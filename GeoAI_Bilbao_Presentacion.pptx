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PM2.5</c:v>
                </c:pt>
              </c:strCache>
            </c:strRef>
          </c:tx>
          <c:spPr>
            <a:ln w="31750" cap="flat">
              <a:solidFill>
                <a:srgbClr val="087E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7E8B"/>
              </a:solidFill>
              <a:ln w="9525" cap="flat">
                <a:solidFill>
                  <a:srgbClr val="087E8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10.199999999999999</c:v>
                </c:pt>
                <c:pt idx="1">
                  <c:v>10.6</c:v>
                </c:pt>
                <c:pt idx="2">
                  <c:v>10</c:v>
                </c:pt>
                <c:pt idx="3">
                  <c:v>9.5</c:v>
                </c:pt>
                <c:pt idx="4">
                  <c:v>9.8000000000000007</c:v>
                </c:pt>
                <c:pt idx="5">
                  <c:v>9.6999999999999993</c:v>
                </c:pt>
                <c:pt idx="6">
                  <c:v>9.5</c:v>
                </c:pt>
                <c:pt idx="7">
                  <c:v>9.6</c:v>
                </c:pt>
                <c:pt idx="8">
                  <c:v>9.8000000000000007</c:v>
                </c:pt>
                <c:pt idx="9">
                  <c:v>9.9</c:v>
                </c:pt>
                <c:pt idx="10">
                  <c:v>10</c:v>
                </c:pt>
                <c:pt idx="11">
                  <c:v>10.3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C02-4827-8009-220B8F3054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PM10</c:v>
                </c:pt>
              </c:strCache>
            </c:strRef>
          </c:tx>
          <c:spPr>
            <a:ln w="31750" cap="flat">
              <a:solidFill>
                <a:srgbClr val="F0A20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0A202"/>
              </a:solidFill>
              <a:ln w="9525" cap="flat">
                <a:solidFill>
                  <a:srgbClr val="F0A202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17</c:v>
                </c:pt>
                <c:pt idx="1">
                  <c:v>17.5</c:v>
                </c:pt>
                <c:pt idx="2">
                  <c:v>17.2</c:v>
                </c:pt>
                <c:pt idx="3">
                  <c:v>16.8</c:v>
                </c:pt>
                <c:pt idx="4">
                  <c:v>17</c:v>
                </c:pt>
                <c:pt idx="5">
                  <c:v>17.600000000000001</c:v>
                </c:pt>
                <c:pt idx="6">
                  <c:v>18</c:v>
                </c:pt>
                <c:pt idx="7">
                  <c:v>17.8</c:v>
                </c:pt>
                <c:pt idx="8">
                  <c:v>17.3</c:v>
                </c:pt>
                <c:pt idx="9">
                  <c:v>17</c:v>
                </c:pt>
                <c:pt idx="10">
                  <c:v>16.899999999999999</c:v>
                </c:pt>
                <c:pt idx="11">
                  <c:v>17.2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C02-4827-8009-220B8F3054A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NO₂</c:v>
                </c:pt>
              </c:strCache>
            </c:strRef>
          </c:tx>
          <c:spPr>
            <a:ln w="31750" cap="flat">
              <a:solidFill>
                <a:srgbClr val="F444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442E"/>
              </a:solidFill>
              <a:ln w="9525" cap="flat">
                <a:solidFill>
                  <a:srgbClr val="F4442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21.5</c:v>
                </c:pt>
                <c:pt idx="1">
                  <c:v>20.8</c:v>
                </c:pt>
                <c:pt idx="2">
                  <c:v>19.5</c:v>
                </c:pt>
                <c:pt idx="3">
                  <c:v>17.2</c:v>
                </c:pt>
                <c:pt idx="4">
                  <c:v>16.5</c:v>
                </c:pt>
                <c:pt idx="5">
                  <c:v>14.8</c:v>
                </c:pt>
                <c:pt idx="6">
                  <c:v>13.9</c:v>
                </c:pt>
                <c:pt idx="7">
                  <c:v>14.2</c:v>
                </c:pt>
                <c:pt idx="8">
                  <c:v>17</c:v>
                </c:pt>
                <c:pt idx="9">
                  <c:v>19.5</c:v>
                </c:pt>
                <c:pt idx="10">
                  <c:v>20.6</c:v>
                </c:pt>
                <c:pt idx="11">
                  <c:v>21.3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C02-4827-8009-220B8F3054A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SO₂</c:v>
                </c:pt>
              </c:strCache>
            </c:strRef>
          </c:tx>
          <c:spPr>
            <a:ln w="31750" cap="flat">
              <a:solidFill>
                <a:srgbClr val="0B395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3954"/>
              </a:solidFill>
              <a:ln w="9525" cap="flat">
                <a:solidFill>
                  <a:srgbClr val="0B395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5.4</c:v>
                </c:pt>
                <c:pt idx="1">
                  <c:v>5.2</c:v>
                </c:pt>
                <c:pt idx="2">
                  <c:v>5</c:v>
                </c:pt>
                <c:pt idx="3">
                  <c:v>4.7</c:v>
                </c:pt>
                <c:pt idx="4">
                  <c:v>4.5999999999999996</c:v>
                </c:pt>
                <c:pt idx="5">
                  <c:v>4.3</c:v>
                </c:pt>
                <c:pt idx="6">
                  <c:v>4</c:v>
                </c:pt>
                <c:pt idx="7">
                  <c:v>4.0999999999999996</c:v>
                </c:pt>
                <c:pt idx="8">
                  <c:v>4.5</c:v>
                </c:pt>
                <c:pt idx="9">
                  <c:v>4.8</c:v>
                </c:pt>
                <c:pt idx="10">
                  <c:v>5</c:v>
                </c:pt>
                <c:pt idx="11">
                  <c:v>5.3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DC02-4827-8009-220B8F3054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184"/>
                </a:solidFill>
                <a:latin typeface="Arial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184"/>
                </a:solidFill>
                <a:latin typeface="Arial"/>
              </a:defRPr>
            </a:pPr>
            <a:endParaRPr lang="es-E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7184"/>
              </a:solidFill>
            </a:defRPr>
          </a:pPr>
          <a:endParaRPr lang="es-E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PM2.5</c:v>
                </c:pt>
              </c:strCache>
            </c:strRef>
          </c:tx>
          <c:spPr>
            <a:solidFill>
              <a:srgbClr val="087E8B">
                <a:alpha val="88000"/>
              </a:srgbClr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232E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MUSKIZ</c:v>
                </c:pt>
                <c:pt idx="1">
                  <c:v>ALGORTA</c:v>
                </c:pt>
                <c:pt idx="2">
                  <c:v>SANTURCE</c:v>
                </c:pt>
                <c:pt idx="3">
                  <c:v>ERANDIO</c:v>
                </c:pt>
                <c:pt idx="4">
                  <c:v>MAZARREDO</c:v>
                </c:pt>
                <c:pt idx="5">
                  <c:v>BASAURI</c:v>
                </c:pt>
                <c:pt idx="6">
                  <c:v>BARAKALDO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6.5</c:v>
                </c:pt>
                <c:pt idx="1">
                  <c:v>8</c:v>
                </c:pt>
                <c:pt idx="2">
                  <c:v>7.9</c:v>
                </c:pt>
                <c:pt idx="3">
                  <c:v>8.4</c:v>
                </c:pt>
                <c:pt idx="4">
                  <c:v>8.5</c:v>
                </c:pt>
                <c:pt idx="5">
                  <c:v>8.6999999999999993</c:v>
                </c:pt>
                <c:pt idx="6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CF-4DA1-8996-B9C1F2E74F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32E"/>
                </a:solidFill>
                <a:latin typeface="Arial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7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184"/>
                </a:solidFill>
                <a:latin typeface="Arial"/>
              </a:defRPr>
            </a:pPr>
            <a:endParaRPr lang="es-E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PM2.5</c:v>
                </c:pt>
              </c:strCache>
            </c:strRef>
          </c:tx>
          <c:spPr>
            <a:ln w="31750" cap="flat">
              <a:solidFill>
                <a:srgbClr val="087E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7E8B"/>
              </a:solidFill>
              <a:ln w="9525" cap="flat">
                <a:solidFill>
                  <a:srgbClr val="087E8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11.5</c:v>
                </c:pt>
                <c:pt idx="2">
                  <c:v>11.2</c:v>
                </c:pt>
                <c:pt idx="3">
                  <c:v>10.8</c:v>
                </c:pt>
                <c:pt idx="4">
                  <c:v>10.5</c:v>
                </c:pt>
                <c:pt idx="5">
                  <c:v>9.5</c:v>
                </c:pt>
                <c:pt idx="6">
                  <c:v>9.6999999999999993</c:v>
                </c:pt>
                <c:pt idx="7">
                  <c:v>9.6</c:v>
                </c:pt>
                <c:pt idx="8">
                  <c:v>9.4</c:v>
                </c:pt>
                <c:pt idx="9">
                  <c:v>9.1999999999999993</c:v>
                </c:pt>
                <c:pt idx="10">
                  <c:v>9</c:v>
                </c:pt>
                <c:pt idx="11">
                  <c:v>8.8000000000000007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12D-4A5B-9E2F-ED37615B50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NO₂</c:v>
                </c:pt>
              </c:strCache>
            </c:strRef>
          </c:tx>
          <c:spPr>
            <a:ln w="31750" cap="flat">
              <a:solidFill>
                <a:srgbClr val="F444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442E"/>
              </a:solidFill>
              <a:ln w="9525" cap="flat">
                <a:solidFill>
                  <a:srgbClr val="F4442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25</c:v>
                </c:pt>
                <c:pt idx="1">
                  <c:v>23.8</c:v>
                </c:pt>
                <c:pt idx="2">
                  <c:v>23</c:v>
                </c:pt>
                <c:pt idx="3">
                  <c:v>22</c:v>
                </c:pt>
                <c:pt idx="4">
                  <c:v>21</c:v>
                </c:pt>
                <c:pt idx="5">
                  <c:v>15.9</c:v>
                </c:pt>
                <c:pt idx="6">
                  <c:v>16.7</c:v>
                </c:pt>
                <c:pt idx="7">
                  <c:v>16.5</c:v>
                </c:pt>
                <c:pt idx="8">
                  <c:v>16</c:v>
                </c:pt>
                <c:pt idx="9">
                  <c:v>15.5</c:v>
                </c:pt>
                <c:pt idx="10">
                  <c:v>15</c:v>
                </c:pt>
                <c:pt idx="11">
                  <c:v>14.7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12D-4A5B-9E2F-ED37615B50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SO₂</c:v>
                </c:pt>
              </c:strCache>
            </c:strRef>
          </c:tx>
          <c:spPr>
            <a:ln w="31750" cap="flat">
              <a:solidFill>
                <a:srgbClr val="F0A20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0A202"/>
              </a:solidFill>
              <a:ln w="9525" cap="flat">
                <a:solidFill>
                  <a:srgbClr val="F0A202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4.0999999999999996</c:v>
                </c:pt>
                <c:pt idx="4">
                  <c:v>4</c:v>
                </c:pt>
                <c:pt idx="5">
                  <c:v>4</c:v>
                </c:pt>
                <c:pt idx="6">
                  <c:v>4.8</c:v>
                </c:pt>
                <c:pt idx="7">
                  <c:v>4.5999999999999996</c:v>
                </c:pt>
                <c:pt idx="8">
                  <c:v>4.5</c:v>
                </c:pt>
                <c:pt idx="9">
                  <c:v>4.4000000000000004</c:v>
                </c:pt>
                <c:pt idx="10">
                  <c:v>4.3</c:v>
                </c:pt>
                <c:pt idx="11">
                  <c:v>4.2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E12D-4A5B-9E2F-ED37615B50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184"/>
                </a:solidFill>
                <a:latin typeface="Arial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184"/>
                </a:solidFill>
                <a:latin typeface="Arial"/>
              </a:defRPr>
            </a:pPr>
            <a:endParaRPr lang="es-E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7184"/>
              </a:solidFill>
            </a:defRPr>
          </a:pPr>
          <a:endParaRPr lang="es-E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459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hyperlink" Target="https://armanghazi.github.io/portfolio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armanghazi.github.io/portfolio" TargetMode="External"/><Relationship Id="rId4" Type="http://schemas.openxmlformats.org/officeDocument/2006/relationships/hyperlink" Target="https://geoai-dashboard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645920"/>
            <a:ext cx="5943600" cy="5943600"/>
          </a:xfrm>
          <a:prstGeom prst="ellipse">
            <a:avLst/>
          </a:prstGeom>
          <a:solidFill>
            <a:srgbClr val="087E8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731520"/>
            <a:ext cx="4114800" cy="4114800"/>
          </a:xfrm>
          <a:prstGeom prst="ellipse">
            <a:avLst/>
          </a:prstGeom>
          <a:solidFill>
            <a:srgbClr val="5DBFD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0"/>
            <a:ext cx="2651760" cy="2651760"/>
          </a:xfrm>
          <a:prstGeom prst="ellipse">
            <a:avLst/>
          </a:prstGeom>
          <a:solidFill>
            <a:srgbClr val="3FA79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48985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· SMART CITY · CALIDAD DEL AIRE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59" y="1350498"/>
            <a:ext cx="10580663" cy="207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</a:t>
            </a:r>
          </a:p>
          <a:p>
            <a:pPr marL="0" indent="0" algn="ctr">
              <a:buNone/>
            </a:pPr>
            <a:r>
              <a:rPr lang="en-US" sz="4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GeoAI</a:t>
            </a: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</a:t>
            </a:r>
            <a:r>
              <a:rPr lang="en-US" sz="4200" dirty="0"/>
              <a:t> </a:t>
            </a: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del Aire </a:t>
            </a:r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 Bilbao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521847"/>
            <a:ext cx="981397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Monitorización, análisis espacial GIS y predicción de calidad del aire con Machine Learning — 7 estaciones, 2015–2026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4279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Arman Ghaziaskari Naeini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4663439"/>
            <a:ext cx="4572000" cy="548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&amp; Spatial Data Scientist · Bilbao, </a:t>
            </a:r>
            <a:r>
              <a:rPr lang="en-US" sz="1200" dirty="0" err="1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</a:t>
            </a:r>
            <a:endParaRPr lang="en-US" sz="1200" dirty="0">
              <a:solidFill>
                <a:srgbClr val="5B718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hlinkClick r:id="rId4"/>
              </a:rPr>
              <a:t>https://armanghazi.github.io/portfolio/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6080760"/>
            <a:ext cx="10881360" cy="0"/>
          </a:xfrm>
          <a:prstGeom prst="line">
            <a:avLst/>
          </a:prstGeom>
          <a:noFill/>
          <a:ln w="12700">
            <a:solidFill>
              <a:srgbClr val="087E8B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geoai-dashboard.streamlit.app</a:t>
            </a:r>
            <a:r>
              <a:rPr lang="en-US" sz="11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3EFCA15-ADF7-561B-3EC6-56D5628515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esta plataforma?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B395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819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 de medición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37560" y="141732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B395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15819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97382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Contaminantes (PM2.5, PM10, NO₂, SO₂)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B395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5819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17920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datos (2015–2026)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732520" y="141732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B395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15400" y="15819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~29K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915400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diarios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pilares técnicos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931920"/>
            <a:ext cx="594360" cy="59436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6908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41248" y="461772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Espacial GIS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41248" y="507492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OSM, distancias, terreno (DEM) y transporte de </a:t>
            </a:r>
            <a:r>
              <a:rPr lang="en-US" sz="950" dirty="0" err="1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viento</a:t>
            </a: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notebooks, 35 features espaciales.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429000" y="37033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0" y="3931920"/>
            <a:ext cx="594360" cy="59436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4069080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630168" y="461772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630168" y="507492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para predicción diaria de contaminantes, validado con split temporal estricto.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217920" y="37033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446520" y="3931920"/>
            <a:ext cx="594360" cy="59436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069080"/>
            <a:ext cx="320040" cy="3200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19088" y="461772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Interactivo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419088" y="507492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páginas en Streamlit — monitoreo, tendencias, pronóstico y soporte a decisiones.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9006840" y="37033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235440" y="3931920"/>
            <a:ext cx="594360" cy="59436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4069080"/>
            <a:ext cx="320040" cy="32004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08008" y="461772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Múltiples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9235440" y="507492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EAQI/ICA, </a:t>
            </a:r>
            <a:b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 err="1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</a:t>
            </a: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OMS 2021, </a:t>
            </a:r>
            <a:b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 err="1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Directiva</a:t>
            </a: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UE 2008/50/EC </a:t>
            </a:r>
            <a:b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 err="1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uno con su propósito.</a:t>
            </a:r>
            <a:endParaRPr lang="en-US" sz="950" dirty="0"/>
          </a:p>
        </p:txBody>
      </p:sp>
      <p:pic>
        <p:nvPicPr>
          <p:cNvPr id="39" name="Gráfico 38">
            <a:extLst>
              <a:ext uri="{FF2B5EF4-FFF2-40B4-BE49-F238E27FC236}">
                <a16:creationId xmlns:a16="http://schemas.microsoft.com/office/drawing/2014/main" id="{92166B91-2E30-1BBB-6A7E-2220E96054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Cuatro Contaminantes Monitorizados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un origen, tamaño de partícula y comportamiento atmosférico distinto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087E8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514600"/>
            <a:ext cx="2606040" cy="320040"/>
          </a:xfrm>
          <a:prstGeom prst="rect">
            <a:avLst/>
          </a:prstGeom>
          <a:solidFill>
            <a:srgbClr val="087E8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PM2.5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Partículas finas (≤2.5 µm)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Tráfico, combustión, industria. Penetran hasta los pulmones — el contaminante con mayor impacto en salud.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6459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0A20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2514600"/>
            <a:ext cx="2606040" cy="320040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783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PM10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57600" y="29718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Partículas gruesas (≤10 µm)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61188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Polvo, obras, erosión, polen. Comparte fuentes con PM2.5 pero incluye partículas de origen natural.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6459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444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2514600"/>
            <a:ext cx="2606040" cy="320040"/>
          </a:xfrm>
          <a:prstGeom prst="rect">
            <a:avLst/>
          </a:prstGeom>
          <a:solidFill>
            <a:srgbClr val="F444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783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92240" y="29718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Dióxido de nitrógeno (gas)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361188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Combustión a alta temperatura — sobre todo tráfico rodado. El contaminante más urbano de los cuatro.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0" y="164592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0" y="16459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0B3954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0" y="2514600"/>
            <a:ext cx="2606040" cy="32004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0" y="1783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SO₂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326880" y="29718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Dióxido de azufre (gas)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0" y="361188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Combustión de combustibles con </a:t>
            </a:r>
            <a:r>
              <a:rPr lang="en-US" sz="1400" dirty="0" err="1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azufre</a:t>
            </a: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industria pesada y tráfico marítimo/portuario.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los datos: red de monitorización de Open Data Euskadi (Gobierno Vasco)</a:t>
            </a:r>
            <a:endParaRPr lang="en-US" sz="1100" dirty="0"/>
          </a:p>
        </p:txBody>
      </p:sp>
      <p:pic>
        <p:nvPicPr>
          <p:cNvPr id="30" name="Gráfico 29">
            <a:extLst>
              <a:ext uri="{FF2B5EF4-FFF2-40B4-BE49-F238E27FC236}">
                <a16:creationId xmlns:a16="http://schemas.microsoft.com/office/drawing/2014/main" id="{D67CBCDA-245B-C582-C966-FBA0BC09E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Depuración de Datos — De 10 a 7 Estaciones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metodológica basada en calidad de datos, no en conveniencia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B0C4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 seleccionadas inicialmente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geográfica más amplia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con series temporales muy incompletas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Huecos de missing values no recuperables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0B395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2057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6309360" y="3017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 finales — base de toda la plataforma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361188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temporales completas y consistentes 2015–2026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MICE viable solo con cobertura suficiente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BARAKALDO, BASAURI, ERANDIO, MAZARREDO, MUSKIZ, SANTURCE, ALGORTA</a:t>
            </a:r>
            <a:endParaRPr lang="en-US" sz="1150" dirty="0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CB2BDBA7-BA0F-223F-8D9E-8F58B4202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Depuración de Variables — Contaminantes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criterio de calidad se aplicó a las variables medidas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Eliminados por missing values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F444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408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26771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discontinuo entre estaciones — cobertura insuficiente tras filtrar las 7 estaciones finales.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F4442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7530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350215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con vacíos significativos en múltiples años — no cumplía el umbral mínimo de datos válidos.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0B395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finales conservadas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3774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87E8B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6517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PM2.5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869680" y="23774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87E8B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26517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PM10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09360" y="3977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87E8B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2519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NO₂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869680" y="3977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87E8B"/>
          </a:solidFill>
          <a:ln/>
        </p:spPr>
      </p:sp>
      <p:sp>
        <p:nvSpPr>
          <p:cNvPr id="21" name="Text 19"/>
          <p:cNvSpPr/>
          <p:nvPr/>
        </p:nvSpPr>
        <p:spPr>
          <a:xfrm>
            <a:off x="9006840" y="42519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SO₂</a:t>
            </a:r>
            <a:endParaRPr lang="en-US" sz="2400" dirty="0"/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79A4DF95-D9E9-D6C6-C2C1-896322CB6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Exploratorio — Series Temporales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mensual de los 4 contaminantes (2015–2026)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11064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ráfico 4">
            <a:extLst>
              <a:ext uri="{FF2B5EF4-FFF2-40B4-BE49-F238E27FC236}">
                <a16:creationId xmlns:a16="http://schemas.microsoft.com/office/drawing/2014/main" id="{C637E675-946A-846F-5944-F4CEC9A027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Promedio de Contaminantes por Estación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promedio histórico — ordenado de menor a mayor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08760"/>
          <a:ext cx="108813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ráfico 4">
            <a:extLst>
              <a:ext uri="{FF2B5EF4-FFF2-40B4-BE49-F238E27FC236}">
                <a16:creationId xmlns:a16="http://schemas.microsoft.com/office/drawing/2014/main" id="{4B6202FD-9E4D-FDA0-5ECA-3B789A1A9B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Correlación entre Contaminantes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5943600" cy="32918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PM2.5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PM10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NO₂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SO₂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PM2.5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44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0.78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6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232E"/>
                          </a:solidFill>
                        </a:rPr>
                        <a:t>0.41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2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232E"/>
                          </a:solidFill>
                        </a:rPr>
                        <a:t>0.12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PM10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0.78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6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44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232E"/>
                          </a:solidFill>
                        </a:rPr>
                        <a:t>0.35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E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232E"/>
                          </a:solidFill>
                        </a:rPr>
                        <a:t>0.15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NO₂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232E"/>
                          </a:solidFill>
                        </a:rPr>
                        <a:t>0.41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2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232E"/>
                          </a:solidFill>
                        </a:rPr>
                        <a:t>0.35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E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44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232E"/>
                          </a:solidFill>
                        </a:rPr>
                        <a:t>0.46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SO₂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232E"/>
                          </a:solidFill>
                        </a:rPr>
                        <a:t>0.12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232E"/>
                          </a:solidFill>
                        </a:rPr>
                        <a:t>0.15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232E"/>
                          </a:solidFill>
                        </a:rPr>
                        <a:t>0.46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44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903719" y="1188720"/>
            <a:ext cx="5043301" cy="4572000"/>
          </a:xfrm>
          <a:prstGeom prst="roundRect">
            <a:avLst>
              <a:gd name="adj" fmla="val 2000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5" name="Text 2"/>
          <p:cNvSpPr/>
          <p:nvPr/>
        </p:nvSpPr>
        <p:spPr>
          <a:xfrm>
            <a:off x="7132320" y="1737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análisis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3952" y="1571625"/>
            <a:ext cx="4883068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↔ PM10: r = 0.78 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— fuentes compartidas (tráfico, polvo, obras)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 ↔ SO₂: r = 0.46 </a:t>
            </a:r>
          </a:p>
          <a:p>
            <a:pPr lvl="1">
              <a:spcAft>
                <a:spcPts val="1000"/>
              </a:spcAft>
              <a:buSzPct val="100000"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asociación moderada con combustión e industria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SO₂ ↔ partículas: correlación casi nula (0.12–0.15) 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— origen industrial/portuario distinto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 es estructuralmente </a:t>
            </a:r>
            <a:r>
              <a:rPr lang="en-US" sz="1400" dirty="0" err="1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</a:t>
            </a: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— contaminante puramente urbano (tráfico)</a:t>
            </a:r>
            <a:endParaRPr lang="en-US" sz="140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097C61E0-9476-259B-0E60-E3FBE86D2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de Valores Atípicos (IQR)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rango intercuartílico (Q1 − 1.5×IQR, Q3 + 1.5×IQR)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2240280" cy="594360"/>
          </a:xfrm>
          <a:prstGeom prst="roundRect">
            <a:avLst>
              <a:gd name="adj" fmla="val 12308"/>
            </a:avLst>
          </a:prstGeom>
          <a:solidFill>
            <a:srgbClr val="F444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PM2.5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 con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outliers: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SANTURCE &amp; BARAKALDO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1828800"/>
            <a:ext cx="2240280" cy="594360"/>
          </a:xfrm>
          <a:prstGeom prst="roundRect">
            <a:avLst>
              <a:gd name="adj" fmla="val 12308"/>
            </a:avLst>
          </a:prstGeom>
          <a:solidFill>
            <a:srgbClr val="F0A20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8288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PM10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0332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 con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outliers: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3246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BASAURI &amp; BARAKALDO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1828800"/>
            <a:ext cx="2240280" cy="594360"/>
          </a:xfrm>
          <a:prstGeom prst="roundRect">
            <a:avLst>
              <a:gd name="adj" fmla="val 12308"/>
            </a:avLst>
          </a:prstGeom>
          <a:solidFill>
            <a:srgbClr val="0B3954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8288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 con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outliers: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3246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MAZARREDO &amp; BARAKALDO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0" y="16459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0" y="1828800"/>
            <a:ext cx="2240280" cy="594360"/>
          </a:xfrm>
          <a:prstGeom prst="roundRect">
            <a:avLst>
              <a:gd name="adj" fmla="val 12308"/>
            </a:avLst>
          </a:prstGeom>
          <a:solidFill>
            <a:srgbClr val="087E8B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18288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7260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 con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outliers: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72600" y="3246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MAZARREDO &amp; ERANDIO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0B395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17720"/>
            <a:ext cx="457200" cy="4572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54480" y="4434840"/>
            <a:ext cx="9692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BARAKALDO aparece como estación con outliers en 3 de los 4 contaminantes — consistente con su perfil de mayor densidad de tráfico e industria, confirmado posteriormente por el análisis espacial GIS (densidad de carreteras más alta de la red).</a:t>
            </a:r>
            <a:endParaRPr lang="en-US" sz="1250" dirty="0"/>
          </a:p>
        </p:txBody>
      </p:sp>
      <p:pic>
        <p:nvPicPr>
          <p:cNvPr id="27" name="Gráfico 26">
            <a:extLst>
              <a:ext uri="{FF2B5EF4-FFF2-40B4-BE49-F238E27FC236}">
                <a16:creationId xmlns:a16="http://schemas.microsoft.com/office/drawing/2014/main" id="{25AF607B-CF3D-4BA1-D9F4-5BEE8F844D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Tendencia a Largo Plazo — Marcador COVID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anual de contaminantes, 2015–2026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11247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roja en el notebook marca el inicio de COVID (2020) — caída brusca en NO₂ (tráfico), SO₂ sube tras la pandemia, PM2.5 mantiene tendencia descendente estructural.</a:t>
            </a:r>
            <a:endParaRPr lang="en-US" sz="1150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8DE9DE56-9F66-E84A-DDB0-72B491669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87E8B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de Monitorización — Gran Bilbao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estaciones · 5 zonas ambientales · mapeadas con Folium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92608" cy="292608"/>
          </a:xfrm>
          <a:prstGeom prst="ellipse">
            <a:avLst/>
          </a:prstGeom>
          <a:solidFill>
            <a:srgbClr val="087E8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5910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MAZARREDO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15910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292608" cy="292608"/>
          </a:xfrm>
          <a:prstGeom prst="ellipse">
            <a:avLst/>
          </a:prstGeom>
          <a:solidFill>
            <a:srgbClr val="087E8B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5910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ERANDIO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0" y="15910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292608" cy="292608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2768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BASAURI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22768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2331720"/>
            <a:ext cx="292608" cy="292608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2768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BARAKALDO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0" y="22768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017520"/>
            <a:ext cx="292608" cy="292608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29626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SANTURCE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29626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3017520"/>
            <a:ext cx="292608" cy="29260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9626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0" y="29626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Costera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703320"/>
            <a:ext cx="292608" cy="292608"/>
          </a:xfrm>
          <a:prstGeom prst="ellipse">
            <a:avLst/>
          </a:prstGeom>
          <a:solidFill>
            <a:srgbClr val="F4442E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36484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MUSKIZ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49040" y="36484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Refinería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12064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087E8B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440680"/>
            <a:ext cx="502920" cy="5029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554480" y="530352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geoespacial: marcadores Folium + mapas de calor (HeatMap) por contaminante, sobre coordenadas reales de cada estación.</a:t>
            </a:r>
            <a:endParaRPr lang="en-US" sz="1250" dirty="0"/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21B0B1AF-CE48-1500-A1B0-914DACA67C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Espacial GeoAI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notebooks — 35 features espaciales por estación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7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Buffers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 de carreteras y uso de suelo (OSM) a 500m/1km/2km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6916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7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0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2918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Haversine a puerto, Petronor, AP-8, costa y centro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7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 (DEM)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2918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Elevación, pendiente y índice de relieve — Copernicus GLO-30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0" y="16916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7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326880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de Viento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0" y="32918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viento ERA5 × estación — patrones de dispersión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principal: densidad de carreteras → NO₂, r = +0.83 (predictor espacial más fuerte de la red)</a:t>
            </a:r>
            <a:endParaRPr lang="en-US" sz="1150" dirty="0"/>
          </a:p>
        </p:txBody>
      </p:sp>
      <p:pic>
        <p:nvPicPr>
          <p:cNvPr id="21" name="Gráfico 20">
            <a:extLst>
              <a:ext uri="{FF2B5EF4-FFF2-40B4-BE49-F238E27FC236}">
                <a16:creationId xmlns:a16="http://schemas.microsoft.com/office/drawing/2014/main" id="{A8B811BE-86CC-D4C0-100D-97FA61354E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87E8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Paradoja de MUSKIZ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 por tres métodos GIS independientes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444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74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34.6%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C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porcentaje de uso industrial del suelo en toda la red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FC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(Refinería Petronor)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16916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3FA79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1874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 µg/m³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309360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F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embargo: el PM2.5 más bajo de toda la red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DF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estación estructuralmente más limpia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7880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51560" y="41605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costera — brisa marina del NW dispersa emisiones de Petronor</a:t>
            </a:r>
            <a:endParaRPr lang="en-US" sz="12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8172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46634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distancia al centro urbano de toda la red</a:t>
            </a:r>
            <a:endParaRPr lang="en-US" sz="12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18464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5166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relieve de terreno (TRI) alto — favorece mezcla turbulenta</a:t>
            </a:r>
            <a:endParaRPr lang="en-US" sz="1250" dirty="0"/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DF2E5000-145D-564B-8A38-773F80EDB6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con Machine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predicción del día siguiente, validado en datos 2024–2026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2377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Contaminante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Interpretación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NO₂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0.560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5.97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4.43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El mejor — ciclo semanal de tráfico regular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PM2.5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0.479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3.33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2.50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Persistencia + factores meteorológicos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PM10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0.460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6.26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4.45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Eventos de polvo añaden variabilidad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SO₂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0.390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1.87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1.23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Más difícil — emisiones industriales/portuarias esporádicas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16052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4343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metodológico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46634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 estricto: entrenamiento &lt; 2023, validación 2023, test ≥ 2024 — un split aleatorio infló el R² a 0.84 por data leakage (detectado y corregido)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features por modelo: meteorología, lags, medias móviles — calculadas en tiempo real, sin necesidad de reentrenar</a:t>
            </a:r>
            <a:endParaRPr lang="en-US" sz="1100" dirty="0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522DB7DE-4307-A563-7149-7B8B242051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Estándares, Tres Preguntas Distintas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EAQI/ICA · OMS 2021 · Directiva UE 2008/50/EC — cada uno responde algo diferente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02152" cy="4160520"/>
          </a:xfrm>
          <a:prstGeom prst="roundRect">
            <a:avLst>
              <a:gd name="adj" fmla="val 2611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3502152" cy="960120"/>
          </a:xfrm>
          <a:prstGeom prst="roundRect">
            <a:avLst>
              <a:gd name="adj" fmla="val 9524"/>
            </a:avLst>
          </a:prstGeom>
          <a:solidFill>
            <a:srgbClr val="087E8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40280"/>
            <a:ext cx="3502152" cy="320040"/>
          </a:xfrm>
          <a:prstGeom prst="rect">
            <a:avLst/>
          </a:prstGeom>
          <a:solidFill>
            <a:srgbClr val="087E8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013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64792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EAQI / ICA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633472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seguro salir hoy?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0288" y="3196982"/>
            <a:ext cx="30449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europeo de calidad del </a:t>
            </a:r>
            <a:r>
              <a:rPr lang="en-US" sz="1400" dirty="0" err="1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</a:t>
            </a: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comunicación pública diaria. </a:t>
            </a:r>
          </a:p>
          <a:p>
            <a:pPr marL="0" indent="0">
              <a:buNone/>
            </a:pPr>
            <a:endParaRPr lang="en-US" sz="1400" dirty="0">
              <a:solidFill>
                <a:srgbClr val="5B718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</a:t>
            </a: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calibrados para alertas de corto plazo (Bueno → Extremadamente malo).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89120" y="1600200"/>
            <a:ext cx="3502152" cy="4160520"/>
          </a:xfrm>
          <a:prstGeom prst="roundRect">
            <a:avLst>
              <a:gd name="adj" fmla="val 2611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1600200"/>
            <a:ext cx="3502152" cy="960120"/>
          </a:xfrm>
          <a:prstGeom prst="roundRect">
            <a:avLst>
              <a:gd name="adj" fmla="val 9524"/>
            </a:avLst>
          </a:prstGeom>
          <a:solidFill>
            <a:srgbClr val="3FA796"/>
          </a:solidFill>
          <a:ln/>
        </p:spPr>
      </p:sp>
      <p:sp>
        <p:nvSpPr>
          <p:cNvPr id="13" name="Shape 10"/>
          <p:cNvSpPr/>
          <p:nvPr/>
        </p:nvSpPr>
        <p:spPr>
          <a:xfrm>
            <a:off x="4389120" y="2240280"/>
            <a:ext cx="3502152" cy="320040"/>
          </a:xfrm>
          <a:prstGeom prst="rect">
            <a:avLst/>
          </a:prstGeom>
          <a:solidFill>
            <a:srgbClr val="3FA79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801368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764792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OMS (WHO)2021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17720" y="274320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lejos estamos del objetivo ideal de salud?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17720" y="3273552"/>
            <a:ext cx="30449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anuales </a:t>
            </a:r>
            <a:r>
              <a:rPr lang="en-US" sz="1400" dirty="0" err="1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</a:t>
            </a: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estrictas</a:t>
            </a:r>
            <a:endParaRPr lang="en-US" sz="1400" dirty="0">
              <a:solidFill>
                <a:srgbClr val="5B718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(PM2.5=5, PM10=15, NO₂=10 µg/m³)</a:t>
            </a:r>
          </a:p>
          <a:p>
            <a:pPr marL="0" indent="0">
              <a:buNone/>
            </a:pPr>
            <a:endParaRPr lang="en-US" sz="1400" dirty="0">
              <a:solidFill>
                <a:srgbClr val="5B718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ciudades europeas las superan rutinariamente.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138160" y="1600200"/>
            <a:ext cx="3502152" cy="4160520"/>
          </a:xfrm>
          <a:prstGeom prst="roundRect">
            <a:avLst>
              <a:gd name="adj" fmla="val 2611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38160" y="1600200"/>
            <a:ext cx="3502152" cy="960120"/>
          </a:xfrm>
          <a:prstGeom prst="roundRect">
            <a:avLst>
              <a:gd name="adj" fmla="val 9524"/>
            </a:avLst>
          </a:prstGeom>
          <a:solidFill>
            <a:srgbClr val="F0A202"/>
          </a:solidFill>
          <a:ln/>
        </p:spPr>
      </p:sp>
      <p:sp>
        <p:nvSpPr>
          <p:cNvPr id="20" name="Shape 16"/>
          <p:cNvSpPr/>
          <p:nvPr/>
        </p:nvSpPr>
        <p:spPr>
          <a:xfrm>
            <a:off x="8138160" y="2240280"/>
            <a:ext cx="3502152" cy="320040"/>
          </a:xfrm>
          <a:prstGeom prst="rect">
            <a:avLst/>
          </a:prstGeom>
          <a:solidFill>
            <a:srgbClr val="F0A202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801368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06840" y="1764792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Directiva UE 2008/50/EC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366760" y="2679192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ha incumplido la ley?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138160" y="3270134"/>
            <a:ext cx="3413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legalmente vinculantes en toda la UE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mucho más permisivos que la OMS</a:t>
            </a:r>
          </a:p>
          <a:p>
            <a:pPr marL="0" indent="0">
              <a:buNone/>
            </a:pPr>
            <a:endParaRPr lang="en-US" sz="1400" dirty="0">
              <a:solidFill>
                <a:srgbClr val="5B718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(PM2.5=25, NO₂=40 µg/m³). </a:t>
            </a:r>
          </a:p>
          <a:p>
            <a:pPr marL="0" indent="0">
              <a:buNone/>
            </a:pPr>
            <a:endParaRPr lang="en-US" sz="1400" dirty="0">
              <a:solidFill>
                <a:srgbClr val="5B718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las alertas operativas.</a:t>
            </a:r>
            <a:endParaRPr lang="en-US" sz="1400" dirty="0"/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3E1FB40B-0319-BC3C-141B-48896E713F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Numérica — Mismo Contaminante, Tres Umbrales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 NO₂ — límite anual en µg/m³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610785"/>
              </p:ext>
            </p:extLst>
          </p:nvPr>
        </p:nvGraphicFramePr>
        <p:xfrm>
          <a:off x="640080" y="1554480"/>
          <a:ext cx="10881360" cy="20116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Estándar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Umbral NO₂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Naturaleza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Uso en la plataforma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EAQI / ICA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32E"/>
                          </a:solidFill>
                        </a:rPr>
                        <a:t>≤40 (Bueno)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32E"/>
                          </a:solidFill>
                        </a:rPr>
                        <a:t>Comunicativo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32E"/>
                          </a:solidFill>
                        </a:rPr>
                        <a:t>Banners de alerta, tarjetas de estación, badges de zona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OMS 2021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7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32E"/>
                          </a:solidFill>
                        </a:rPr>
                        <a:t>10 (límite anual)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32E"/>
                          </a:solidFill>
                        </a:rPr>
                        <a:t>Científico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32E"/>
                          </a:solidFill>
                        </a:rPr>
                        <a:t>Risk Score, líneas de referencia en gráficos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Directiva UE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2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32E"/>
                          </a:solidFill>
                        </a:rPr>
                        <a:t>40 (límite anual)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32E"/>
                          </a:solidFill>
                        </a:rPr>
                        <a:t>Legal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32E"/>
                          </a:solidFill>
                        </a:rPr>
                        <a:t>Alertas de Daily Briefing, Decision Support, informes PDF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79476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0B395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6908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concreto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600200" y="4434840"/>
            <a:ext cx="9692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PM2.5 = 12 µg/m³: 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la OMS dice 2.4× el límite (preocupante a largo </a:t>
            </a:r>
            <a:r>
              <a:rPr lang="en-US" sz="1250" dirty="0" err="1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</a:t>
            </a:r>
            <a:r>
              <a:rPr lang="en-US" sz="12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la UE dice que está muy por debajo del límite legal (sin infracción), 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250" dirty="0" err="1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EAQI dice “Fairly good” (aceptable para hoy).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respuestas son correctas — responden preguntas distintas.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Interactivo — 10 Páginas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 — actualizado automáticamente cada día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56432" cy="960120"/>
          </a:xfrm>
          <a:prstGeom prst="roundRect">
            <a:avLst>
              <a:gd name="adj" fmla="val 761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64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7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0116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Diario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9392" y="1554480"/>
            <a:ext cx="3456432" cy="960120"/>
          </a:xfrm>
          <a:prstGeom prst="roundRect">
            <a:avLst>
              <a:gd name="adj" fmla="val 761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43984" y="1664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7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43984" y="20116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Calidad del Aire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18704" y="1554480"/>
            <a:ext cx="3456432" cy="960120"/>
          </a:xfrm>
          <a:prstGeom prst="roundRect">
            <a:avLst>
              <a:gd name="adj" fmla="val 761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83296" y="1664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7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83296" y="20116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Temporales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3456432" cy="960120"/>
          </a:xfrm>
          <a:prstGeom prst="roundRect">
            <a:avLst>
              <a:gd name="adj" fmla="val 761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2807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7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" y="31546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Espacial GeoAI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79392" y="2697480"/>
            <a:ext cx="3456432" cy="960120"/>
          </a:xfrm>
          <a:prstGeom prst="roundRect">
            <a:avLst>
              <a:gd name="adj" fmla="val 761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43984" y="2807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7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43984" y="31546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Meteorológicos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18704" y="2697480"/>
            <a:ext cx="3456432" cy="960120"/>
          </a:xfrm>
          <a:prstGeom prst="roundRect">
            <a:avLst>
              <a:gd name="adj" fmla="val 761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83296" y="2807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7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83296" y="31546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(Forecasting)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3456432" cy="960120"/>
          </a:xfrm>
          <a:prstGeom prst="roundRect">
            <a:avLst>
              <a:gd name="adj" fmla="val 761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" y="3950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7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672" y="42976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a Decisiones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79392" y="3840480"/>
            <a:ext cx="3456432" cy="960120"/>
          </a:xfrm>
          <a:prstGeom prst="roundRect">
            <a:avLst>
              <a:gd name="adj" fmla="val 761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43984" y="3950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7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43984" y="42976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918704" y="3840480"/>
            <a:ext cx="3456432" cy="960120"/>
          </a:xfrm>
          <a:prstGeom prst="roundRect">
            <a:avLst>
              <a:gd name="adj" fmla="val 761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83296" y="3950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7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83296" y="42976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del Proyecto (IA)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4983480"/>
            <a:ext cx="3456432" cy="960120"/>
          </a:xfrm>
          <a:prstGeom prst="roundRect">
            <a:avLst>
              <a:gd name="adj" fmla="val 7619"/>
            </a:avLst>
          </a:prstGeom>
          <a:solidFill>
            <a:srgbClr val="EAF4F6"/>
          </a:solidFill>
          <a:ln/>
          <a:effectLst>
            <a:outerShdw blurRad="101600" dist="381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04672" y="5093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7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4672" y="54406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(admin)</a:t>
            </a:r>
            <a:endParaRPr lang="en-US" sz="1150" dirty="0"/>
          </a:p>
        </p:txBody>
      </p:sp>
      <p:pic>
        <p:nvPicPr>
          <p:cNvPr id="34" name="Gráfico 33">
            <a:extLst>
              <a:ext uri="{FF2B5EF4-FFF2-40B4-BE49-F238E27FC236}">
                <a16:creationId xmlns:a16="http://schemas.microsoft.com/office/drawing/2014/main" id="{E7EC78A4-E213-EFB4-920E-B6DD008881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87E8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94360" cy="59436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5773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716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 datos manda sobre la cantidad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63040" y="173736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de 10 a 7 estaciones y de 6 a 4 contaminantes garantizó series temporales completas — base indispensable para imputación MICE y modelos válidos.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594360" cy="59436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0861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8803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espacial explica lo que el tiempo no puede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63040" y="324612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paradoja de MUSKIZ demuestra que factores estructurales (terreno, distancia, viento) son tan importantes como la serie temporal.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434840"/>
            <a:ext cx="594360" cy="59436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5948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3891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estándar único cuenta toda la historia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463040" y="47548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EAQI, OMS y Directiva UE coexisten porque responden preguntas distintas — pública, científica y legal.</a:t>
            </a:r>
            <a:endParaRPr lang="en-US" sz="1150" dirty="0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FA62BA0A-035B-35DC-31C6-99F6A7A86D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087E8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731520"/>
            <a:ext cx="4206240" cy="4206240"/>
          </a:xfrm>
          <a:prstGeom prst="ellipse">
            <a:avLst/>
          </a:prstGeom>
          <a:solidFill>
            <a:srgbClr val="3FA79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 de la plataforma GeoAI a continuación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7772400" cy="868680"/>
          </a:xfrm>
          <a:prstGeom prst="roundRect">
            <a:avLst>
              <a:gd name="adj" fmla="val 12632"/>
            </a:avLst>
          </a:prstGeom>
          <a:solidFill>
            <a:srgbClr val="087E8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4456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4370832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954F72"/>
                </a:solidFill>
                <a:highlight>
                  <a:srgbClr val="00FF00"/>
                </a:highlight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geoai-dashboard.streamlit.app</a:t>
            </a:r>
            <a:r>
              <a:rPr lang="en-US" sz="1700" b="1" dirty="0">
                <a:solidFill>
                  <a:schemeClr val="bg1"/>
                </a:solidFill>
                <a:highlight>
                  <a:srgbClr val="00FF00"/>
                </a:highlight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700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Arman Ghaziaskari Naeini · GIS &amp; Spatial Data Scientist</a:t>
            </a:r>
          </a:p>
          <a:p>
            <a:pPr marL="0" indent="0">
              <a:buNone/>
            </a:pPr>
            <a:r>
              <a:rPr lang="en-US" sz="1200" dirty="0">
                <a:hlinkClick r:id="rId5"/>
              </a:rPr>
              <a:t>https://armanghazi.github.io/portfolio</a:t>
            </a:r>
            <a:r>
              <a:rPr lang="en-US" sz="1200" dirty="0"/>
              <a:t> 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09434A93-9882-0783-4966-35ACB3EAE4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7664" y="-17145"/>
            <a:ext cx="4224704" cy="9315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1577</Words>
  <Application>Microsoft Office PowerPoint</Application>
  <PresentationFormat>Panorámica</PresentationFormat>
  <Paragraphs>305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GeoAI Smart City — Calidad del Aire en el Gran Bilbao</dc:title>
  <dc:subject>PptxGenJS Presentation</dc:subject>
  <dc:creator>Arman Ghaziaskari Naeini</dc:creator>
  <cp:lastModifiedBy>nueve</cp:lastModifiedBy>
  <cp:revision>11</cp:revision>
  <dcterms:created xsi:type="dcterms:W3CDTF">2026-06-30T11:20:34Z</dcterms:created>
  <dcterms:modified xsi:type="dcterms:W3CDTF">2026-07-01T10:35:35Z</dcterms:modified>
</cp:coreProperties>
</file>