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3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PM2.5</c:v>
                </c:pt>
              </c:strCache>
            </c:strRef>
          </c:tx>
          <c:spPr>
            <a:ln w="31750" cap="flat">
              <a:solidFill>
                <a:srgbClr val="087E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87E8B"/>
              </a:solidFill>
              <a:ln w="9525" cap="flat">
                <a:solidFill>
                  <a:srgbClr val="087E8B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10.199999999999999</c:v>
                </c:pt>
                <c:pt idx="1">
                  <c:v>10.6</c:v>
                </c:pt>
                <c:pt idx="2">
                  <c:v>10</c:v>
                </c:pt>
                <c:pt idx="3">
                  <c:v>9.5</c:v>
                </c:pt>
                <c:pt idx="4">
                  <c:v>9.8000000000000007</c:v>
                </c:pt>
                <c:pt idx="5">
                  <c:v>9.6999999999999993</c:v>
                </c:pt>
                <c:pt idx="6">
                  <c:v>9.5</c:v>
                </c:pt>
                <c:pt idx="7">
                  <c:v>9.6</c:v>
                </c:pt>
                <c:pt idx="8">
                  <c:v>9.8000000000000007</c:v>
                </c:pt>
                <c:pt idx="9">
                  <c:v>9.9</c:v>
                </c:pt>
                <c:pt idx="10">
                  <c:v>10</c:v>
                </c:pt>
                <c:pt idx="11">
                  <c:v>10.3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DC02-4827-8009-220B8F3054A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PM10</c:v>
                </c:pt>
              </c:strCache>
            </c:strRef>
          </c:tx>
          <c:spPr>
            <a:ln w="31750" cap="flat">
              <a:solidFill>
                <a:srgbClr val="F0A20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0A202"/>
              </a:solidFill>
              <a:ln w="9525" cap="flat">
                <a:solidFill>
                  <a:srgbClr val="F0A202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17</c:v>
                </c:pt>
                <c:pt idx="1">
                  <c:v>17.5</c:v>
                </c:pt>
                <c:pt idx="2">
                  <c:v>17.2</c:v>
                </c:pt>
                <c:pt idx="3">
                  <c:v>16.8</c:v>
                </c:pt>
                <c:pt idx="4">
                  <c:v>17</c:v>
                </c:pt>
                <c:pt idx="5">
                  <c:v>17.600000000000001</c:v>
                </c:pt>
                <c:pt idx="6">
                  <c:v>18</c:v>
                </c:pt>
                <c:pt idx="7">
                  <c:v>17.8</c:v>
                </c:pt>
                <c:pt idx="8">
                  <c:v>17.3</c:v>
                </c:pt>
                <c:pt idx="9">
                  <c:v>17</c:v>
                </c:pt>
                <c:pt idx="10">
                  <c:v>16.899999999999999</c:v>
                </c:pt>
                <c:pt idx="11">
                  <c:v>17.2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DC02-4827-8009-220B8F3054A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NO₂</c:v>
                </c:pt>
              </c:strCache>
            </c:strRef>
          </c:tx>
          <c:spPr>
            <a:ln w="31750" cap="flat">
              <a:solidFill>
                <a:srgbClr val="F4442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4442E"/>
              </a:solidFill>
              <a:ln w="9525" cap="flat">
                <a:solidFill>
                  <a:srgbClr val="F4442E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21.5</c:v>
                </c:pt>
                <c:pt idx="1">
                  <c:v>20.8</c:v>
                </c:pt>
                <c:pt idx="2">
                  <c:v>19.5</c:v>
                </c:pt>
                <c:pt idx="3">
                  <c:v>17.2</c:v>
                </c:pt>
                <c:pt idx="4">
                  <c:v>16.5</c:v>
                </c:pt>
                <c:pt idx="5">
                  <c:v>14.8</c:v>
                </c:pt>
                <c:pt idx="6">
                  <c:v>13.9</c:v>
                </c:pt>
                <c:pt idx="7">
                  <c:v>14.2</c:v>
                </c:pt>
                <c:pt idx="8">
                  <c:v>17</c:v>
                </c:pt>
                <c:pt idx="9">
                  <c:v>19.5</c:v>
                </c:pt>
                <c:pt idx="10">
                  <c:v>20.6</c:v>
                </c:pt>
                <c:pt idx="11">
                  <c:v>21.3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DC02-4827-8009-220B8F3054A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SO₂</c:v>
                </c:pt>
              </c:strCache>
            </c:strRef>
          </c:tx>
          <c:spPr>
            <a:ln w="31750" cap="flat">
              <a:solidFill>
                <a:srgbClr val="0B3954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B3954"/>
              </a:solidFill>
              <a:ln w="9525" cap="flat">
                <a:solidFill>
                  <a:srgbClr val="0B3954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Ene</c:v>
                </c:pt>
                <c:pt idx="1">
                  <c:v>Feb</c:v>
                </c:pt>
                <c:pt idx="2">
                  <c:v>Mar</c:v>
                </c:pt>
                <c:pt idx="3">
                  <c:v>Abr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Ago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Dic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5.4</c:v>
                </c:pt>
                <c:pt idx="1">
                  <c:v>5.2</c:v>
                </c:pt>
                <c:pt idx="2">
                  <c:v>5</c:v>
                </c:pt>
                <c:pt idx="3">
                  <c:v>4.7</c:v>
                </c:pt>
                <c:pt idx="4">
                  <c:v>4.5999999999999996</c:v>
                </c:pt>
                <c:pt idx="5">
                  <c:v>4.3</c:v>
                </c:pt>
                <c:pt idx="6">
                  <c:v>4</c:v>
                </c:pt>
                <c:pt idx="7">
                  <c:v>4.0999999999999996</c:v>
                </c:pt>
                <c:pt idx="8">
                  <c:v>4.5</c:v>
                </c:pt>
                <c:pt idx="9">
                  <c:v>4.8</c:v>
                </c:pt>
                <c:pt idx="10">
                  <c:v>5</c:v>
                </c:pt>
                <c:pt idx="11">
                  <c:v>5.3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DC02-4827-8009-220B8F3054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184"/>
                </a:solidFill>
                <a:latin typeface="Arial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E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184"/>
                </a:solidFill>
                <a:latin typeface="Arial"/>
              </a:defRPr>
            </a:pPr>
            <a:endParaRPr lang="es-E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7184"/>
              </a:solidFill>
            </a:defRPr>
          </a:pPr>
          <a:endParaRPr lang="es-E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PM2.5</c:v>
                </c:pt>
              </c:strCache>
            </c:strRef>
          </c:tx>
          <c:spPr>
            <a:solidFill>
              <a:srgbClr val="087E8B">
                <a:alpha val="88000"/>
              </a:srgbClr>
            </a:solidFill>
            <a:effectLst/>
          </c:spPr>
          <c:invertIfNegative val="0"/>
          <c:dLbls>
            <c:numFmt formatCode="0.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2232E"/>
                    </a:solidFill>
                    <a:latin typeface="Arial"/>
                  </a:defRPr>
                </a:pPr>
                <a:endParaRPr lang="es-E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MUSKIZ</c:v>
                </c:pt>
                <c:pt idx="1">
                  <c:v>ALGORTA</c:v>
                </c:pt>
                <c:pt idx="2">
                  <c:v>SANTURCE</c:v>
                </c:pt>
                <c:pt idx="3">
                  <c:v>ERANDIO</c:v>
                </c:pt>
                <c:pt idx="4">
                  <c:v>MAZARREDO</c:v>
                </c:pt>
                <c:pt idx="5">
                  <c:v>BASAURI</c:v>
                </c:pt>
                <c:pt idx="6">
                  <c:v>BARAKALDO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6.5</c:v>
                </c:pt>
                <c:pt idx="1">
                  <c:v>8</c:v>
                </c:pt>
                <c:pt idx="2">
                  <c:v>7.9</c:v>
                </c:pt>
                <c:pt idx="3">
                  <c:v>8.4</c:v>
                </c:pt>
                <c:pt idx="4">
                  <c:v>8.5</c:v>
                </c:pt>
                <c:pt idx="5">
                  <c:v>8.6999999999999993</c:v>
                </c:pt>
                <c:pt idx="6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7CF-4DA1-8996-B9C1F2E74F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2232E"/>
                </a:solidFill>
                <a:latin typeface="Arial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7EE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184"/>
                </a:solidFill>
                <a:latin typeface="Arial"/>
              </a:defRPr>
            </a:pPr>
            <a:endParaRPr lang="es-E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PM2.5</c:v>
                </c:pt>
              </c:strCache>
            </c:strRef>
          </c:tx>
          <c:spPr>
            <a:ln w="31750" cap="flat">
              <a:solidFill>
                <a:srgbClr val="087E8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87E8B"/>
              </a:solidFill>
              <a:ln w="9525" cap="flat">
                <a:solidFill>
                  <a:srgbClr val="087E8B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11.5</c:v>
                </c:pt>
                <c:pt idx="2">
                  <c:v>11.2</c:v>
                </c:pt>
                <c:pt idx="3">
                  <c:v>10.8</c:v>
                </c:pt>
                <c:pt idx="4">
                  <c:v>10.5</c:v>
                </c:pt>
                <c:pt idx="5">
                  <c:v>9.5</c:v>
                </c:pt>
                <c:pt idx="6">
                  <c:v>9.6999999999999993</c:v>
                </c:pt>
                <c:pt idx="7">
                  <c:v>9.6</c:v>
                </c:pt>
                <c:pt idx="8">
                  <c:v>9.4</c:v>
                </c:pt>
                <c:pt idx="9">
                  <c:v>9.1999999999999993</c:v>
                </c:pt>
                <c:pt idx="10">
                  <c:v>9</c:v>
                </c:pt>
                <c:pt idx="11">
                  <c:v>8.8000000000000007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E12D-4A5B-9E2F-ED37615B509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NO₂</c:v>
                </c:pt>
              </c:strCache>
            </c:strRef>
          </c:tx>
          <c:spPr>
            <a:ln w="31750" cap="flat">
              <a:solidFill>
                <a:srgbClr val="F4442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4442E"/>
              </a:solidFill>
              <a:ln w="9525" cap="flat">
                <a:solidFill>
                  <a:srgbClr val="F4442E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25</c:v>
                </c:pt>
                <c:pt idx="1">
                  <c:v>23.8</c:v>
                </c:pt>
                <c:pt idx="2">
                  <c:v>23</c:v>
                </c:pt>
                <c:pt idx="3">
                  <c:v>22</c:v>
                </c:pt>
                <c:pt idx="4">
                  <c:v>21</c:v>
                </c:pt>
                <c:pt idx="5">
                  <c:v>15.9</c:v>
                </c:pt>
                <c:pt idx="6">
                  <c:v>16.7</c:v>
                </c:pt>
                <c:pt idx="7">
                  <c:v>16.5</c:v>
                </c:pt>
                <c:pt idx="8">
                  <c:v>16</c:v>
                </c:pt>
                <c:pt idx="9">
                  <c:v>15.5</c:v>
                </c:pt>
                <c:pt idx="10">
                  <c:v>15</c:v>
                </c:pt>
                <c:pt idx="11">
                  <c:v>14.7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E12D-4A5B-9E2F-ED37615B509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SO₂</c:v>
                </c:pt>
              </c:strCache>
            </c:strRef>
          </c:tx>
          <c:spPr>
            <a:ln w="31750" cap="flat">
              <a:solidFill>
                <a:srgbClr val="F0A202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0A202"/>
              </a:solidFill>
              <a:ln w="9525" cap="flat">
                <a:solidFill>
                  <a:srgbClr val="F0A202"/>
                </a:solidFill>
                <a:prstDash val="solid"/>
                <a:round/>
              </a:ln>
              <a:effectLst/>
            </c:spPr>
          </c:marker>
          <c:cat>
            <c:strRef>
              <c:f>Sheet1!$A$2:$A$13</c:f>
              <c:strCache>
                <c:ptCount val="12"/>
                <c:pt idx="0">
                  <c:v>2015</c:v>
                </c:pt>
                <c:pt idx="1">
                  <c:v>2016</c:v>
                </c:pt>
                <c:pt idx="2">
                  <c:v>2017</c:v>
                </c:pt>
                <c:pt idx="3">
                  <c:v>2018</c:v>
                </c:pt>
                <c:pt idx="4">
                  <c:v>2019</c:v>
                </c:pt>
                <c:pt idx="5">
                  <c:v>2020</c:v>
                </c:pt>
                <c:pt idx="6">
                  <c:v>2021</c:v>
                </c:pt>
                <c:pt idx="7">
                  <c:v>2022</c:v>
                </c:pt>
                <c:pt idx="8">
                  <c:v>2023</c:v>
                </c:pt>
                <c:pt idx="9">
                  <c:v>2024</c:v>
                </c:pt>
                <c:pt idx="10">
                  <c:v>2025</c:v>
                </c:pt>
                <c:pt idx="11">
                  <c:v>2026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4.0999999999999996</c:v>
                </c:pt>
                <c:pt idx="4">
                  <c:v>4</c:v>
                </c:pt>
                <c:pt idx="5">
                  <c:v>4</c:v>
                </c:pt>
                <c:pt idx="6">
                  <c:v>4.8</c:v>
                </c:pt>
                <c:pt idx="7">
                  <c:v>4.5999999999999996</c:v>
                </c:pt>
                <c:pt idx="8">
                  <c:v>4.5</c:v>
                </c:pt>
                <c:pt idx="9">
                  <c:v>4.4000000000000004</c:v>
                </c:pt>
                <c:pt idx="10">
                  <c:v>4.3</c:v>
                </c:pt>
                <c:pt idx="11">
                  <c:v>4.2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E12D-4A5B-9E2F-ED37615B509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184"/>
                </a:solidFill>
                <a:latin typeface="Arial"/>
              </a:defRPr>
            </a:pPr>
            <a:endParaRPr lang="es-E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E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7184"/>
                </a:solidFill>
                <a:latin typeface="Arial"/>
              </a:defRPr>
            </a:pPr>
            <a:endParaRPr lang="es-E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7184"/>
              </a:solidFill>
            </a:defRPr>
          </a:pPr>
          <a:endParaRPr lang="es-E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004597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hyperlink" Target="https://armanghazi.github.io/portfolio/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4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3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armanghazi.github.io/portfolio" TargetMode="External"/><Relationship Id="rId4" Type="http://schemas.openxmlformats.org/officeDocument/2006/relationships/hyperlink" Target="https://geoai-dashboard.streamlit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1645920"/>
            <a:ext cx="5943600" cy="5943600"/>
          </a:xfrm>
          <a:prstGeom prst="ellipse">
            <a:avLst/>
          </a:prstGeom>
          <a:solidFill>
            <a:srgbClr val="087E8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-731520"/>
            <a:ext cx="4114800" cy="4114800"/>
          </a:xfrm>
          <a:prstGeom prst="ellipse">
            <a:avLst/>
          </a:prstGeom>
          <a:solidFill>
            <a:srgbClr val="5DBFDB">
              <a:alpha val="1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49840" y="0"/>
            <a:ext cx="2651760" cy="2651760"/>
          </a:xfrm>
          <a:prstGeom prst="ellipse">
            <a:avLst/>
          </a:prstGeom>
          <a:solidFill>
            <a:srgbClr val="3FA796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848985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GEOAI · SMART CITY · CALIDAD DEL AIRE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59" y="1350498"/>
            <a:ext cx="10580663" cy="207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Plataforma </a:t>
            </a:r>
          </a:p>
          <a:p>
            <a:pPr marL="0" indent="0" algn="ctr">
              <a:buNone/>
            </a:pPr>
            <a:r>
              <a:rPr lang="en-US" sz="42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GeoAI</a:t>
            </a: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</a:t>
            </a:r>
            <a:r>
              <a:rPr lang="en-US" sz="4200" dirty="0"/>
              <a:t> </a:t>
            </a: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Calidad del Aire </a:t>
            </a:r>
          </a:p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Gran Bilbao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40080" y="3521847"/>
            <a:ext cx="981397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7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Monitorización, análisis espacial GIS y predicción de calidad del aire con Machine Learning — 7 estaciones, 2015–2026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43000" y="427939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Arman Ghaziaskari Naeini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4663439"/>
            <a:ext cx="4572000" cy="54863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&amp; Spatial Data Scientist · Bilbao, </a:t>
            </a:r>
            <a:r>
              <a:rPr lang="en-US" sz="120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España</a:t>
            </a:r>
            <a:endParaRPr lang="en-US" sz="1200" dirty="0">
              <a:solidFill>
                <a:srgbClr val="5B718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200" dirty="0">
                <a:hlinkClick r:id="rId4"/>
              </a:rPr>
              <a:t>https://armanghazi.github.io/portfolio/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6080760"/>
            <a:ext cx="10881360" cy="0"/>
          </a:xfrm>
          <a:prstGeom prst="line">
            <a:avLst/>
          </a:prstGeom>
          <a:noFill/>
          <a:ln w="12700">
            <a:solidFill>
              <a:srgbClr val="087E8B">
                <a:alpha val="6000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621792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geoai-dashboard.streamlit.app</a:t>
            </a:r>
            <a:r>
              <a:rPr lang="en-US" sz="11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  <a:endParaRPr lang="en-US" sz="1100" dirty="0"/>
          </a:p>
        </p:txBody>
      </p:sp>
      <p:pic>
        <p:nvPicPr>
          <p:cNvPr id="14" name="Gráfico 13">
            <a:extLst>
              <a:ext uri="{FF2B5EF4-FFF2-40B4-BE49-F238E27FC236}">
                <a16:creationId xmlns:a16="http://schemas.microsoft.com/office/drawing/2014/main" id="{23EFCA15-ADF7-561B-3EC6-56D5628515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esta plataforma?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0B3954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581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Estaciones de medición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337560" y="141732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0B3954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520440" y="1581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397382" y="23774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Contaminantes (PM2.5, PM10, NO₂, SO₂)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35040" y="141732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0B3954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217920" y="1581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6217920" y="23774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de datos (2015–2026)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732520" y="1417320"/>
            <a:ext cx="2468880" cy="1554480"/>
          </a:xfrm>
          <a:prstGeom prst="roundRect">
            <a:avLst>
              <a:gd name="adj" fmla="val 5882"/>
            </a:avLst>
          </a:prstGeom>
          <a:solidFill>
            <a:srgbClr val="0B3954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915400" y="15819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~29K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915400" y="23774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diarios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0080" y="3246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pilares técnicos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3931920"/>
            <a:ext cx="594360" cy="594360"/>
          </a:xfrm>
          <a:prstGeom prst="ellipse">
            <a:avLst/>
          </a:prstGeom>
          <a:solidFill>
            <a:srgbClr val="087E8B"/>
          </a:solidFill>
          <a:ln/>
        </p:spPr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069080"/>
            <a:ext cx="320040" cy="32004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841248" y="461772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Espacial GIS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41248" y="5074920"/>
            <a:ext cx="2203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Buffers OSM, distancias, terreno (DEM) y transporte de </a:t>
            </a:r>
            <a:r>
              <a:rPr lang="en-US" sz="9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viento</a:t>
            </a:r>
            <a: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notebooks, 35 features espaciales.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3429000" y="370332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3657600" y="3931920"/>
            <a:ext cx="594360" cy="594360"/>
          </a:xfrm>
          <a:prstGeom prst="ellipse">
            <a:avLst/>
          </a:prstGeom>
          <a:solidFill>
            <a:srgbClr val="087E8B"/>
          </a:solidFill>
          <a:ln/>
        </p:spPr>
      </p:sp>
      <p:pic>
        <p:nvPicPr>
          <p:cNvPr id="2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94760" y="4069080"/>
            <a:ext cx="320040" cy="32004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3630168" y="461772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3630168" y="5074920"/>
            <a:ext cx="2203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para predicción diaria de contaminantes, validado con split temporal estricto.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6217920" y="370332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6446520" y="3931920"/>
            <a:ext cx="594360" cy="594360"/>
          </a:xfrm>
          <a:prstGeom prst="ellipse">
            <a:avLst/>
          </a:prstGeom>
          <a:solidFill>
            <a:srgbClr val="087E8B"/>
          </a:solidFill>
          <a:ln/>
        </p:spPr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0" y="4069080"/>
            <a:ext cx="320040" cy="32004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419088" y="461772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Interactivo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6419088" y="5074920"/>
            <a:ext cx="22037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páginas en Streamlit — monitoreo, tendencias, pronóstico y soporte a decisiones.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9006840" y="3703320"/>
            <a:ext cx="2606040" cy="2194560"/>
          </a:xfrm>
          <a:prstGeom prst="roundRect">
            <a:avLst>
              <a:gd name="adj" fmla="val 4167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9235440" y="3931920"/>
            <a:ext cx="594360" cy="594360"/>
          </a:xfrm>
          <a:prstGeom prst="ellipse">
            <a:avLst/>
          </a:prstGeom>
          <a:solidFill>
            <a:srgbClr val="087E8B"/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72600" y="4069080"/>
            <a:ext cx="320040" cy="320040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9208008" y="4617720"/>
            <a:ext cx="22037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Estándares Múltiples</a:t>
            </a:r>
            <a:endParaRPr lang="en-US" sz="1200" dirty="0"/>
          </a:p>
        </p:txBody>
      </p:sp>
      <p:sp>
        <p:nvSpPr>
          <p:cNvPr id="35" name="Text 29"/>
          <p:cNvSpPr/>
          <p:nvPr/>
        </p:nvSpPr>
        <p:spPr>
          <a:xfrm>
            <a:off x="9235440" y="507492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EAQI/ICA, </a:t>
            </a:r>
            <a:b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guías</a:t>
            </a:r>
            <a: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OMS 2021, </a:t>
            </a:r>
            <a:b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Directiva</a:t>
            </a:r>
            <a: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UE 2008/50/EC </a:t>
            </a:r>
            <a:b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9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</a:t>
            </a:r>
            <a:r>
              <a:rPr lang="en-US" sz="9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uno con su propósito.</a:t>
            </a:r>
            <a:endParaRPr lang="en-US" sz="950" dirty="0"/>
          </a:p>
        </p:txBody>
      </p:sp>
      <p:pic>
        <p:nvPicPr>
          <p:cNvPr id="39" name="Gráfico 38">
            <a:extLst>
              <a:ext uri="{FF2B5EF4-FFF2-40B4-BE49-F238E27FC236}">
                <a16:creationId xmlns:a16="http://schemas.microsoft.com/office/drawing/2014/main" id="{92166B91-2E30-1BBB-6A7E-2220E960542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Cuatro Contaminantes Monitorizados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con un origen, tamaño de partícula y comportamiento atmosférico distinto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4592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087E8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514600"/>
            <a:ext cx="2606040" cy="320040"/>
          </a:xfrm>
          <a:prstGeom prst="rect">
            <a:avLst/>
          </a:prstGeom>
          <a:solidFill>
            <a:srgbClr val="087E8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783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PM2.5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Partículas finas (≤2.5 µm)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2240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Tráfico, combustión, industria. Penetran hasta los pulmones — el contaminante con mayor impacto en salud.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474720" y="164592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474720" y="164592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F0A202"/>
          </a:solidFill>
          <a:ln/>
        </p:spPr>
      </p:sp>
      <p:sp>
        <p:nvSpPr>
          <p:cNvPr id="12" name="Shape 10"/>
          <p:cNvSpPr/>
          <p:nvPr/>
        </p:nvSpPr>
        <p:spPr>
          <a:xfrm>
            <a:off x="3474720" y="2514600"/>
            <a:ext cx="2606040" cy="320040"/>
          </a:xfrm>
          <a:prstGeom prst="rect">
            <a:avLst/>
          </a:prstGeom>
          <a:solidFill>
            <a:srgbClr val="F0A202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0" y="1783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PM10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657600" y="29718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Partículas gruesas (≤10 µm)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0" y="3611880"/>
            <a:ext cx="2240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Polvo, obras, erosión, polen. Comparte fuentes con PM2.5 pero incluye partículas de origen natural.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164592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9360" y="164592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F4442E"/>
          </a:solidFill>
          <a:ln/>
        </p:spPr>
      </p:sp>
      <p:sp>
        <p:nvSpPr>
          <p:cNvPr id="18" name="Shape 16"/>
          <p:cNvSpPr/>
          <p:nvPr/>
        </p:nvSpPr>
        <p:spPr>
          <a:xfrm>
            <a:off x="6309360" y="2514600"/>
            <a:ext cx="2606040" cy="320040"/>
          </a:xfrm>
          <a:prstGeom prst="rect">
            <a:avLst/>
          </a:prstGeom>
          <a:solidFill>
            <a:srgbClr val="F444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0" y="1783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NO₂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6492240" y="29718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Dióxido de nitrógeno (gas)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92240" y="3611880"/>
            <a:ext cx="2240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Combustión a alta temperatura — sobre todo tráfico rodado. El contaminante más urbano de los cuatro.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144000" y="1645920"/>
            <a:ext cx="2606040" cy="4114800"/>
          </a:xfrm>
          <a:prstGeom prst="roundRect">
            <a:avLst>
              <a:gd name="adj" fmla="val 350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144000" y="164592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0B3954"/>
          </a:solidFill>
          <a:ln/>
        </p:spPr>
      </p:sp>
      <p:sp>
        <p:nvSpPr>
          <p:cNvPr id="24" name="Shape 22"/>
          <p:cNvSpPr/>
          <p:nvPr/>
        </p:nvSpPr>
        <p:spPr>
          <a:xfrm>
            <a:off x="9144000" y="2514600"/>
            <a:ext cx="2606040" cy="320040"/>
          </a:xfrm>
          <a:prstGeom prst="rect">
            <a:avLst/>
          </a:prstGeom>
          <a:solidFill>
            <a:srgbClr val="0B3954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0" y="178308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SO₂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9326880" y="29718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Dióxido de azufre (gas)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326880" y="3611880"/>
            <a:ext cx="2240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Combustión de combustibles con </a:t>
            </a:r>
            <a:r>
              <a:rPr lang="en-US" sz="140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azufre</a:t>
            </a: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industria pesada y tráfico marítimo/portuario.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los datos: red de monitorización de Open Data Euskadi (Gobierno Vasco)</a:t>
            </a:r>
            <a:endParaRPr lang="en-US" sz="1100" dirty="0"/>
          </a:p>
        </p:txBody>
      </p:sp>
      <p:pic>
        <p:nvPicPr>
          <p:cNvPr id="30" name="Gráfico 29">
            <a:extLst>
              <a:ext uri="{FF2B5EF4-FFF2-40B4-BE49-F238E27FC236}">
                <a16:creationId xmlns:a16="http://schemas.microsoft.com/office/drawing/2014/main" id="{D67CBCDA-245B-C582-C966-FBA0BC09E1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Depuración de Datos — De 10 a 7 Estaciones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Decisión metodológica basada en calidad de datos, no en conveniencia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554480"/>
            <a:ext cx="5120640" cy="4206240"/>
          </a:xfrm>
          <a:prstGeom prst="roundRect">
            <a:avLst>
              <a:gd name="adj" fmla="val 2174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0574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B0C4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6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estaciones seleccionadas inicialmente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3611880"/>
            <a:ext cx="44805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endParaRPr lang="en-US" sz="1150" dirty="0">
              <a:solidFill>
                <a:srgbClr val="5B718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FontTx/>
              <a:buChar char="•"/>
            </a:pPr>
            <a:r>
              <a:rPr lang="en-US" sz="11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</a:t>
            </a:r>
            <a:r>
              <a:rPr lang="en-US" sz="11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temporales</a:t>
            </a:r>
            <a:r>
              <a:rPr lang="en-US" sz="11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completas</a:t>
            </a:r>
            <a:r>
              <a:rPr lang="en-US" sz="11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r>
              <a:rPr lang="en-US" sz="11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consistentes</a:t>
            </a:r>
            <a:r>
              <a:rPr lang="en-US" sz="11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2012–2026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</a:t>
            </a:r>
            <a:r>
              <a:rPr lang="en-US" sz="11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geográfica </a:t>
            </a:r>
            <a:r>
              <a:rPr lang="en-US" sz="11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</a:t>
            </a:r>
            <a:r>
              <a:rPr lang="en-US" sz="11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</a:t>
            </a:r>
            <a:endParaRPr lang="en-US" sz="1150" dirty="0">
              <a:solidFill>
                <a:srgbClr val="5B718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Algunas</a:t>
            </a:r>
            <a:r>
              <a:rPr lang="en-US" sz="11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series temporales muy incompletas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Huecos de missing values no recuperables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554480"/>
            <a:ext cx="5486400" cy="4206240"/>
          </a:xfrm>
          <a:prstGeom prst="roundRect">
            <a:avLst>
              <a:gd name="adj" fmla="val 2174"/>
            </a:avLst>
          </a:prstGeom>
          <a:solidFill>
            <a:srgbClr val="0B3954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309360" y="17830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09360" y="205740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3FA7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6309360" y="3017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7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estaciones finales — base de toda la plataforma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09360" y="3611880"/>
            <a:ext cx="49377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temporales completas y consistentes 2015–2026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MICE viable solo con cobertura suficiente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BARAKALDO, BASAURI, ERANDIO, MAZARREDO, MUSKIZ, SANTURCE, ALGORTA</a:t>
            </a:r>
            <a:endParaRPr lang="en-US" sz="1150" dirty="0"/>
          </a:p>
        </p:txBody>
      </p:sp>
      <p:pic>
        <p:nvPicPr>
          <p:cNvPr id="14" name="Gráfico 13">
            <a:extLst>
              <a:ext uri="{FF2B5EF4-FFF2-40B4-BE49-F238E27FC236}">
                <a16:creationId xmlns:a16="http://schemas.microsoft.com/office/drawing/2014/main" id="{CB2BDBA7-BA0F-223F-8D9E-8F58B42023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635549" y="1687068"/>
            <a:ext cx="5212080" cy="4160520"/>
          </a:xfrm>
          <a:prstGeom prst="roundRect">
            <a:avLst>
              <a:gd name="adj" fmla="val 2198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53523BFE-7C3A-8A5C-876F-0EA511C5C8F3}"/>
              </a:ext>
            </a:extLst>
          </p:cNvPr>
          <p:cNvSpPr/>
          <p:nvPr/>
        </p:nvSpPr>
        <p:spPr>
          <a:xfrm>
            <a:off x="966401" y="4131528"/>
            <a:ext cx="118913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53" name="Shape 4">
            <a:extLst>
              <a:ext uri="{FF2B5EF4-FFF2-40B4-BE49-F238E27FC236}">
                <a16:creationId xmlns:a16="http://schemas.microsoft.com/office/drawing/2014/main" id="{3CF3DBC1-34A4-3FE9-7042-9416F1324D87}"/>
              </a:ext>
            </a:extLst>
          </p:cNvPr>
          <p:cNvSpPr/>
          <p:nvPr/>
        </p:nvSpPr>
        <p:spPr>
          <a:xfrm>
            <a:off x="2440561" y="4152123"/>
            <a:ext cx="118913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54" name="Shape 4">
            <a:extLst>
              <a:ext uri="{FF2B5EF4-FFF2-40B4-BE49-F238E27FC236}">
                <a16:creationId xmlns:a16="http://schemas.microsoft.com/office/drawing/2014/main" id="{C92B2B03-71B5-CCD5-C69A-44C728710AFA}"/>
              </a:ext>
            </a:extLst>
          </p:cNvPr>
          <p:cNvSpPr/>
          <p:nvPr/>
        </p:nvSpPr>
        <p:spPr>
          <a:xfrm>
            <a:off x="4175038" y="4219008"/>
            <a:ext cx="118913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55" name="Shape 4">
            <a:extLst>
              <a:ext uri="{FF2B5EF4-FFF2-40B4-BE49-F238E27FC236}">
                <a16:creationId xmlns:a16="http://schemas.microsoft.com/office/drawing/2014/main" id="{20B8E6A0-E3E4-4552-98C9-6BB6A878A435}"/>
              </a:ext>
            </a:extLst>
          </p:cNvPr>
          <p:cNvSpPr/>
          <p:nvPr/>
        </p:nvSpPr>
        <p:spPr>
          <a:xfrm>
            <a:off x="1251431" y="4637677"/>
            <a:ext cx="118913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56" name="Shape 4">
            <a:extLst>
              <a:ext uri="{FF2B5EF4-FFF2-40B4-BE49-F238E27FC236}">
                <a16:creationId xmlns:a16="http://schemas.microsoft.com/office/drawing/2014/main" id="{577145C8-1606-0AB0-5B6E-29EFB76B2E21}"/>
              </a:ext>
            </a:extLst>
          </p:cNvPr>
          <p:cNvSpPr/>
          <p:nvPr/>
        </p:nvSpPr>
        <p:spPr>
          <a:xfrm>
            <a:off x="2763794" y="4852692"/>
            <a:ext cx="1274084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51" name="Shape 4">
            <a:extLst>
              <a:ext uri="{FF2B5EF4-FFF2-40B4-BE49-F238E27FC236}">
                <a16:creationId xmlns:a16="http://schemas.microsoft.com/office/drawing/2014/main" id="{9156480D-1EE0-0885-99C9-94E706891E61}"/>
              </a:ext>
            </a:extLst>
          </p:cNvPr>
          <p:cNvSpPr/>
          <p:nvPr/>
        </p:nvSpPr>
        <p:spPr>
          <a:xfrm>
            <a:off x="3962194" y="3736271"/>
            <a:ext cx="50292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50" name="Shape 4">
            <a:extLst>
              <a:ext uri="{FF2B5EF4-FFF2-40B4-BE49-F238E27FC236}">
                <a16:creationId xmlns:a16="http://schemas.microsoft.com/office/drawing/2014/main" id="{255F4518-949E-E881-20B4-4BDF29246E13}"/>
              </a:ext>
            </a:extLst>
          </p:cNvPr>
          <p:cNvSpPr/>
          <p:nvPr/>
        </p:nvSpPr>
        <p:spPr>
          <a:xfrm>
            <a:off x="2518514" y="3693850"/>
            <a:ext cx="50292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49" name="Shape 4">
            <a:extLst>
              <a:ext uri="{FF2B5EF4-FFF2-40B4-BE49-F238E27FC236}">
                <a16:creationId xmlns:a16="http://schemas.microsoft.com/office/drawing/2014/main" id="{5A480827-372A-90DC-1CC3-0AC806E1A539}"/>
              </a:ext>
            </a:extLst>
          </p:cNvPr>
          <p:cNvSpPr/>
          <p:nvPr/>
        </p:nvSpPr>
        <p:spPr>
          <a:xfrm>
            <a:off x="1493315" y="3585612"/>
            <a:ext cx="50292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48" name="Shape 4">
            <a:extLst>
              <a:ext uri="{FF2B5EF4-FFF2-40B4-BE49-F238E27FC236}">
                <a16:creationId xmlns:a16="http://schemas.microsoft.com/office/drawing/2014/main" id="{3C5361D3-11E9-BCE6-E308-DB91F19A2652}"/>
              </a:ext>
            </a:extLst>
          </p:cNvPr>
          <p:cNvSpPr/>
          <p:nvPr/>
        </p:nvSpPr>
        <p:spPr>
          <a:xfrm>
            <a:off x="726938" y="3679909"/>
            <a:ext cx="50292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29" name="Shape 4">
            <a:extLst>
              <a:ext uri="{FF2B5EF4-FFF2-40B4-BE49-F238E27FC236}">
                <a16:creationId xmlns:a16="http://schemas.microsoft.com/office/drawing/2014/main" id="{B309A16B-E6E9-7C47-18D2-FC3CE515DBD4}"/>
              </a:ext>
            </a:extLst>
          </p:cNvPr>
          <p:cNvSpPr/>
          <p:nvPr/>
        </p:nvSpPr>
        <p:spPr>
          <a:xfrm>
            <a:off x="2730842" y="2292470"/>
            <a:ext cx="50292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3EC36A6F-9BCE-C25D-0C30-92FB63EC9B20}"/>
              </a:ext>
            </a:extLst>
          </p:cNvPr>
          <p:cNvSpPr/>
          <p:nvPr/>
        </p:nvSpPr>
        <p:spPr>
          <a:xfrm>
            <a:off x="1127760" y="2276311"/>
            <a:ext cx="50292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Depuración de Variables — Contaminantes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criterio de calidad se aplicó a las variables medidas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02042" y="295033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Eliminados por missing values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45431" y="5066318"/>
            <a:ext cx="50292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7" name="Text 5"/>
          <p:cNvSpPr/>
          <p:nvPr/>
        </p:nvSpPr>
        <p:spPr>
          <a:xfrm>
            <a:off x="4522366" y="5130946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167713" y="5144680"/>
            <a:ext cx="502920" cy="502920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10" name="Text 8"/>
          <p:cNvSpPr/>
          <p:nvPr/>
        </p:nvSpPr>
        <p:spPr>
          <a:xfrm>
            <a:off x="1187484" y="5174713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O₃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035040" y="1600200"/>
            <a:ext cx="5486400" cy="4160520"/>
          </a:xfrm>
          <a:prstGeom prst="roundRect">
            <a:avLst>
              <a:gd name="adj" fmla="val 2198"/>
            </a:avLst>
          </a:prstGeom>
          <a:solidFill>
            <a:srgbClr val="0B3954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09360" y="1783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finales conservadas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23774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087E8B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26517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PM2.5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8869680" y="23774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087E8B"/>
          </a:solidFill>
          <a:ln/>
        </p:spPr>
      </p:sp>
      <p:sp>
        <p:nvSpPr>
          <p:cNvPr id="17" name="Text 15"/>
          <p:cNvSpPr/>
          <p:nvPr/>
        </p:nvSpPr>
        <p:spPr>
          <a:xfrm>
            <a:off x="9006840" y="26517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PM10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09360" y="39776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087E8B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42519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NO₂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869680" y="39776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087E8B"/>
          </a:solidFill>
          <a:ln/>
        </p:spPr>
      </p:sp>
      <p:sp>
        <p:nvSpPr>
          <p:cNvPr id="21" name="Text 19"/>
          <p:cNvSpPr/>
          <p:nvPr/>
        </p:nvSpPr>
        <p:spPr>
          <a:xfrm>
            <a:off x="9006840" y="4251960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SO₂</a:t>
            </a:r>
            <a:endParaRPr lang="en-US" sz="2400" dirty="0"/>
          </a:p>
        </p:txBody>
      </p:sp>
      <p:pic>
        <p:nvPicPr>
          <p:cNvPr id="22" name="Gráfico 21">
            <a:extLst>
              <a:ext uri="{FF2B5EF4-FFF2-40B4-BE49-F238E27FC236}">
                <a16:creationId xmlns:a16="http://schemas.microsoft.com/office/drawing/2014/main" id="{79A4DF95-D9E9-D6C6-C2C1-896322CB63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718C372C-0B3F-D6D6-A0E2-5CF93CAFACE0}"/>
              </a:ext>
            </a:extLst>
          </p:cNvPr>
          <p:cNvSpPr txBox="1"/>
          <p:nvPr/>
        </p:nvSpPr>
        <p:spPr>
          <a:xfrm>
            <a:off x="749849" y="3752926"/>
            <a:ext cx="49221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es-ES" sz="1400" b="0" i="0" baseline="-2500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s-ES" sz="10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8h</a:t>
            </a:r>
            <a:endParaRPr lang="es-ES" sz="1000" dirty="0">
              <a:solidFill>
                <a:schemeClr val="bg1"/>
              </a:solidFill>
            </a:endParaRPr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56AA2AB8-51EA-0BA0-0D5A-8D52625A67AD}"/>
              </a:ext>
            </a:extLst>
          </p:cNvPr>
          <p:cNvSpPr/>
          <p:nvPr/>
        </p:nvSpPr>
        <p:spPr>
          <a:xfrm>
            <a:off x="848497" y="1755903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Eliminados </a:t>
            </a:r>
            <a:r>
              <a:rPr lang="en-US" sz="1600" b="1" dirty="0" err="1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6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correlación</a:t>
            </a:r>
            <a:r>
              <a:rPr lang="en-US" sz="16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</a:t>
            </a:r>
            <a:r>
              <a:rPr lang="en-US" sz="16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2F2451D-4F58-E464-3EAB-059C5C444FD3}"/>
              </a:ext>
            </a:extLst>
          </p:cNvPr>
          <p:cNvSpPr txBox="1"/>
          <p:nvPr/>
        </p:nvSpPr>
        <p:spPr>
          <a:xfrm>
            <a:off x="1180070" y="2350190"/>
            <a:ext cx="502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NO</a:t>
            </a:r>
            <a:endParaRPr lang="es-ES" sz="1400" dirty="0">
              <a:solidFill>
                <a:schemeClr val="bg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72FC3B-AE0D-66B9-8AF9-E7339A18BFA4}"/>
              </a:ext>
            </a:extLst>
          </p:cNvPr>
          <p:cNvSpPr txBox="1"/>
          <p:nvPr/>
        </p:nvSpPr>
        <p:spPr>
          <a:xfrm>
            <a:off x="2763794" y="2380893"/>
            <a:ext cx="5029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NO</a:t>
            </a:r>
            <a:r>
              <a:rPr lang="es-ES" sz="1400" b="0" i="0" baseline="-2500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X</a:t>
            </a:r>
            <a:endParaRPr lang="es-ES" sz="1400" baseline="-25000" dirty="0">
              <a:solidFill>
                <a:schemeClr val="bg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F2500CC-6372-11C3-9844-D741907216B4}"/>
              </a:ext>
            </a:extLst>
          </p:cNvPr>
          <p:cNvSpPr txBox="1"/>
          <p:nvPr/>
        </p:nvSpPr>
        <p:spPr>
          <a:xfrm>
            <a:off x="4376557" y="4275525"/>
            <a:ext cx="8958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Benceno</a:t>
            </a:r>
            <a:endParaRPr lang="es-ES" sz="1400" dirty="0">
              <a:solidFill>
                <a:schemeClr val="bg1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F21B9F-E4AE-6D85-0CB8-863BFD798A48}"/>
              </a:ext>
            </a:extLst>
          </p:cNvPr>
          <p:cNvSpPr txBox="1"/>
          <p:nvPr/>
        </p:nvSpPr>
        <p:spPr>
          <a:xfrm>
            <a:off x="2478561" y="4235986"/>
            <a:ext cx="118913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Ortoxileno</a:t>
            </a:r>
            <a:endParaRPr lang="es-ES" sz="1400" dirty="0">
              <a:solidFill>
                <a:schemeClr val="bg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B268558-9A78-53D6-40EE-576D5B9196DD}"/>
              </a:ext>
            </a:extLst>
          </p:cNvPr>
          <p:cNvSpPr txBox="1"/>
          <p:nvPr/>
        </p:nvSpPr>
        <p:spPr>
          <a:xfrm>
            <a:off x="1476115" y="4723757"/>
            <a:ext cx="9584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Tolueno</a:t>
            </a:r>
            <a:endParaRPr lang="es-ES" sz="1400" dirty="0">
              <a:solidFill>
                <a:schemeClr val="bg1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153C39-C984-13AC-E989-D6115EA549D3}"/>
              </a:ext>
            </a:extLst>
          </p:cNvPr>
          <p:cNvSpPr txBox="1"/>
          <p:nvPr/>
        </p:nvSpPr>
        <p:spPr>
          <a:xfrm>
            <a:off x="4014862" y="3832443"/>
            <a:ext cx="45287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NH</a:t>
            </a:r>
            <a:r>
              <a:rPr lang="es-ES" sz="1400" b="0" i="0" baseline="-2500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3</a:t>
            </a:r>
            <a:endParaRPr lang="es-ES" sz="1400" baseline="-25000" dirty="0">
              <a:solidFill>
                <a:schemeClr val="bg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14FEE2-0538-0D2C-0373-F34EECDE8842}"/>
              </a:ext>
            </a:extLst>
          </p:cNvPr>
          <p:cNvSpPr txBox="1"/>
          <p:nvPr/>
        </p:nvSpPr>
        <p:spPr>
          <a:xfrm>
            <a:off x="2571181" y="3777480"/>
            <a:ext cx="50292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SH</a:t>
            </a:r>
            <a:r>
              <a:rPr lang="es-ES" sz="1400" b="0" i="0" baseline="-2500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2</a:t>
            </a:r>
            <a:endParaRPr lang="es-ES" sz="1400" baseline="-25000" dirty="0">
              <a:solidFill>
                <a:schemeClr val="bg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A73BECB-D7C2-E22D-A748-AC5AFDEE1BBB}"/>
              </a:ext>
            </a:extLst>
          </p:cNvPr>
          <p:cNvSpPr txBox="1"/>
          <p:nvPr/>
        </p:nvSpPr>
        <p:spPr>
          <a:xfrm>
            <a:off x="1001617" y="4228128"/>
            <a:ext cx="13703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M-P-XILENO</a:t>
            </a:r>
            <a:endParaRPr lang="es-ES" sz="1400" dirty="0">
              <a:solidFill>
                <a:schemeClr val="bg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F1D6E6-843D-A6AC-BD9D-C9F20AF564C8}"/>
              </a:ext>
            </a:extLst>
          </p:cNvPr>
          <p:cNvSpPr txBox="1"/>
          <p:nvPr/>
        </p:nvSpPr>
        <p:spPr>
          <a:xfrm>
            <a:off x="1493520" y="3710229"/>
            <a:ext cx="5988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CO</a:t>
            </a:r>
            <a:r>
              <a:rPr lang="es-ES" sz="10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8h</a:t>
            </a:r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</a:t>
            </a:r>
            <a:endParaRPr lang="es-ES" sz="1400" dirty="0">
              <a:solidFill>
                <a:schemeClr val="bg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EB55491-D059-E29D-A6D6-AC67A18F2570}"/>
              </a:ext>
            </a:extLst>
          </p:cNvPr>
          <p:cNvSpPr txBox="1"/>
          <p:nvPr/>
        </p:nvSpPr>
        <p:spPr>
          <a:xfrm>
            <a:off x="2767397" y="4944540"/>
            <a:ext cx="137036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1400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Etilbenceno</a:t>
            </a:r>
            <a:endParaRPr lang="es-ES" sz="1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Exploratorio — Series Temporales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mensual de los 4 contaminantes (2015–2026)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508760"/>
          <a:ext cx="1106424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ráfico 4">
            <a:extLst>
              <a:ext uri="{FF2B5EF4-FFF2-40B4-BE49-F238E27FC236}">
                <a16:creationId xmlns:a16="http://schemas.microsoft.com/office/drawing/2014/main" id="{C637E675-946A-846F-5944-F4CEC9A027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Promedio de Contaminantes por Estación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promedio histórico — ordenado de menor a mayor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640080" y="1508760"/>
          <a:ext cx="1088136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5" name="Gráfico 4">
            <a:extLst>
              <a:ext uri="{FF2B5EF4-FFF2-40B4-BE49-F238E27FC236}">
                <a16:creationId xmlns:a16="http://schemas.microsoft.com/office/drawing/2014/main" id="{4B6202FD-9E4D-FDA0-5ECA-3B789A1A9B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Correlación entre Contaminantes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5943600" cy="329184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PM2.5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PM10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NO₂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SO₂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PM2.5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44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0.78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6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2232E"/>
                          </a:solidFill>
                        </a:rPr>
                        <a:t>0.41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2A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2232E"/>
                          </a:solidFill>
                        </a:rPr>
                        <a:t>0.12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9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PM10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0.78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6D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44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2232E"/>
                          </a:solidFill>
                        </a:rPr>
                        <a:t>0.35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E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2232E"/>
                          </a:solidFill>
                        </a:rPr>
                        <a:t>0.15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E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NO₂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2232E"/>
                          </a:solidFill>
                        </a:rPr>
                        <a:t>0.41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B2A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2232E"/>
                          </a:solidFill>
                        </a:rPr>
                        <a:t>0.35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BE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44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2232E"/>
                          </a:solidFill>
                        </a:rPr>
                        <a:t>0.46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A99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SO₂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2232E"/>
                          </a:solidFill>
                        </a:rPr>
                        <a:t>0.12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9E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2232E"/>
                          </a:solidFill>
                        </a:rPr>
                        <a:t>0.15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3E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2232E"/>
                          </a:solidFill>
                        </a:rPr>
                        <a:t>0.46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A99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</a:rPr>
                        <a:t>1.00</a:t>
                      </a:r>
                      <a:endParaRPr lang="en-US" sz="1300" dirty="0"/>
                    </a:p>
                  </a:txBody>
                  <a:tcPr anchor="ctr">
                    <a:lnL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44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903719" y="1188720"/>
            <a:ext cx="5043301" cy="4572000"/>
          </a:xfrm>
          <a:prstGeom prst="roundRect">
            <a:avLst>
              <a:gd name="adj" fmla="val 2000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s-ES" dirty="0"/>
          </a:p>
        </p:txBody>
      </p:sp>
      <p:sp>
        <p:nvSpPr>
          <p:cNvPr id="5" name="Text 2"/>
          <p:cNvSpPr/>
          <p:nvPr/>
        </p:nvSpPr>
        <p:spPr>
          <a:xfrm>
            <a:off x="7132320" y="17373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análisis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7063952" y="1571625"/>
            <a:ext cx="4883068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↔ PM10: r = 0.78 </a:t>
            </a:r>
          </a:p>
          <a:p>
            <a:pPr>
              <a:spcAft>
                <a:spcPts val="1000"/>
              </a:spcAft>
              <a:buSzPct val="100000"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— fuentes compartidas (tráfico, polvo, obras)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NO₂ ↔ SO₂: r = 0.46 </a:t>
            </a:r>
          </a:p>
          <a:p>
            <a:pPr lvl="1">
              <a:spcAft>
                <a:spcPts val="1000"/>
              </a:spcAft>
              <a:buSzPct val="100000"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asociación moderada con combustión e industria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SO₂ ↔ partículas: correlación casi nula (0.12–0.15) </a:t>
            </a:r>
          </a:p>
          <a:p>
            <a:pPr>
              <a:spcAft>
                <a:spcPts val="1000"/>
              </a:spcAft>
              <a:buSzPct val="100000"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— origen industrial/portuario distinto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NO₂ es estructuralmente </a:t>
            </a:r>
            <a:r>
              <a:rPr lang="en-US" sz="140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independiente</a:t>
            </a: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>
              <a:spcAft>
                <a:spcPts val="1000"/>
              </a:spcAft>
              <a:buSzPct val="100000"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— contaminante puramente urbano (tráfico)</a:t>
            </a:r>
            <a:endParaRPr lang="en-US" sz="1400" dirty="0"/>
          </a:p>
        </p:txBody>
      </p:sp>
      <p:pic>
        <p:nvPicPr>
          <p:cNvPr id="3" name="Gráfico 2">
            <a:extLst>
              <a:ext uri="{FF2B5EF4-FFF2-40B4-BE49-F238E27FC236}">
                <a16:creationId xmlns:a16="http://schemas.microsoft.com/office/drawing/2014/main" id="{097C61E0-9476-259B-0E60-E3FBE86D2B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Detección de Valores Atípicos (IQR)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Método: rango intercuartílico (Q1 − 1.5×IQR, Q3 + 1.5×IQR)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28800"/>
            <a:ext cx="2240280" cy="594360"/>
          </a:xfrm>
          <a:prstGeom prst="roundRect">
            <a:avLst>
              <a:gd name="adj" fmla="val 12308"/>
            </a:avLst>
          </a:prstGeom>
          <a:solidFill>
            <a:srgbClr val="F4442E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288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PM2.5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Estaciones con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outliers: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68680" y="32461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SANTURCE &amp; BARAKALDO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57600" y="1828800"/>
            <a:ext cx="2240280" cy="594360"/>
          </a:xfrm>
          <a:prstGeom prst="roundRect">
            <a:avLst>
              <a:gd name="adj" fmla="val 12308"/>
            </a:avLst>
          </a:prstGeom>
          <a:solidFill>
            <a:srgbClr val="F0A202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0" y="18288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PM10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70332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Estaciones con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outliers: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703320" y="32461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BASAURI &amp; BARAKALDO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164592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92240" y="1828800"/>
            <a:ext cx="2240280" cy="594360"/>
          </a:xfrm>
          <a:prstGeom prst="roundRect">
            <a:avLst>
              <a:gd name="adj" fmla="val 12308"/>
            </a:avLst>
          </a:prstGeom>
          <a:solidFill>
            <a:srgbClr val="0B3954"/>
          </a:solidFill>
          <a:ln/>
        </p:spPr>
      </p:sp>
      <p:sp>
        <p:nvSpPr>
          <p:cNvPr id="16" name="Text 14"/>
          <p:cNvSpPr/>
          <p:nvPr/>
        </p:nvSpPr>
        <p:spPr>
          <a:xfrm>
            <a:off x="6492240" y="18288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SO₂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3796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Estaciones con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outliers: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7960" y="32461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MAZARREDO &amp; BARAKALDO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164592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26880" y="1828800"/>
            <a:ext cx="2240280" cy="594360"/>
          </a:xfrm>
          <a:prstGeom prst="roundRect">
            <a:avLst>
              <a:gd name="adj" fmla="val 12308"/>
            </a:avLst>
          </a:prstGeom>
          <a:solidFill>
            <a:srgbClr val="087E8B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0" y="182880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NO₂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372600" y="265176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Estaciones con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outliers: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72600" y="324612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MAZARREDO &amp; ERANDIO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4251960"/>
            <a:ext cx="10881360" cy="1417320"/>
          </a:xfrm>
          <a:prstGeom prst="roundRect">
            <a:avLst>
              <a:gd name="adj" fmla="val 6452"/>
            </a:avLst>
          </a:prstGeom>
          <a:solidFill>
            <a:srgbClr val="0B3954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554480" y="4434840"/>
            <a:ext cx="9692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BARAKALDO aparece como estación con outliers en 3 de los 4 </a:t>
            </a:r>
            <a:r>
              <a:rPr lang="en-US" sz="1250" dirty="0" err="1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contaminantes</a:t>
            </a: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consistente con su perfil de mayor densidad de tráfico e industria, confirmado posteriormente por el análisis </a:t>
            </a:r>
            <a:r>
              <a:rPr lang="en-US" sz="1250" dirty="0" err="1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espacial</a:t>
            </a: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GIS</a:t>
            </a:r>
          </a:p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(densidad de carreteras más alta de la red).</a:t>
            </a:r>
            <a:endParaRPr lang="en-US" sz="1250" dirty="0"/>
          </a:p>
        </p:txBody>
      </p:sp>
      <p:pic>
        <p:nvPicPr>
          <p:cNvPr id="27" name="Gráfico 26">
            <a:extLst>
              <a:ext uri="{FF2B5EF4-FFF2-40B4-BE49-F238E27FC236}">
                <a16:creationId xmlns:a16="http://schemas.microsoft.com/office/drawing/2014/main" id="{25AF607B-CF3D-4BA1-D9F4-5BEE8F844D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Tendencia a Largo Plazo — Marcador COVID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Promedio anual de contaminantes, 2015–2026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457200" y="1463040"/>
          <a:ext cx="1124712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 roja en el notebook marca el inicio de COVID (2020) — caída brusca en NO₂ (tráfico), SO₂ sube tras la pandemia, PM2.5 mantiene tendencia descendente estructural.</a:t>
            </a:r>
            <a:endParaRPr lang="en-US" sz="1150" dirty="0"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8DE9DE56-9F66-E84A-DDB0-72B4916699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87E8B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 de Monitorización — Gran Bilbao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estaciones · 5 zonas ambientales · mapeadas con Folium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645920"/>
            <a:ext cx="292608" cy="292608"/>
          </a:xfrm>
          <a:prstGeom prst="ellipse">
            <a:avLst/>
          </a:prstGeom>
          <a:solidFill>
            <a:srgbClr val="087E8B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59105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MAZARREDO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49040" y="15910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035040" y="1645920"/>
            <a:ext cx="292608" cy="292608"/>
          </a:xfrm>
          <a:prstGeom prst="ellipse">
            <a:avLst/>
          </a:prstGeom>
          <a:solidFill>
            <a:srgbClr val="087E8B"/>
          </a:solidFill>
          <a:ln/>
        </p:spPr>
      </p:sp>
      <p:sp>
        <p:nvSpPr>
          <p:cNvPr id="9" name="Text 7"/>
          <p:cNvSpPr/>
          <p:nvPr/>
        </p:nvSpPr>
        <p:spPr>
          <a:xfrm>
            <a:off x="6446520" y="159105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ERANDIO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0" y="15910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2331720"/>
            <a:ext cx="292608" cy="292608"/>
          </a:xfrm>
          <a:prstGeom prst="ellipse">
            <a:avLst/>
          </a:prstGeom>
          <a:solidFill>
            <a:srgbClr val="F0A202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27685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BASAURI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49040" y="22768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35040" y="2331720"/>
            <a:ext cx="292608" cy="292608"/>
          </a:xfrm>
          <a:prstGeom prst="ellipse">
            <a:avLst/>
          </a:prstGeom>
          <a:solidFill>
            <a:srgbClr val="F0A202"/>
          </a:solidFill>
          <a:ln/>
        </p:spPr>
      </p:sp>
      <p:sp>
        <p:nvSpPr>
          <p:cNvPr id="15" name="Text 13"/>
          <p:cNvSpPr/>
          <p:nvPr/>
        </p:nvSpPr>
        <p:spPr>
          <a:xfrm>
            <a:off x="6446520" y="227685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BARAKALDO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144000" y="22768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017520"/>
            <a:ext cx="292608" cy="292608"/>
          </a:xfrm>
          <a:prstGeom prst="ellipse">
            <a:avLst/>
          </a:prstGeom>
          <a:solidFill>
            <a:srgbClr val="2980B9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296265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SANTURCE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749040" y="29626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35040" y="3017520"/>
            <a:ext cx="292608" cy="292608"/>
          </a:xfrm>
          <a:prstGeom prst="ellipse">
            <a:avLst/>
          </a:prstGeom>
          <a:solidFill>
            <a:srgbClr val="3FA796"/>
          </a:solidFill>
          <a:ln/>
        </p:spPr>
      </p:sp>
      <p:sp>
        <p:nvSpPr>
          <p:cNvPr id="21" name="Text 19"/>
          <p:cNvSpPr/>
          <p:nvPr/>
        </p:nvSpPr>
        <p:spPr>
          <a:xfrm>
            <a:off x="6446520" y="296265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ALGORTA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144000" y="29626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Costera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3703320"/>
            <a:ext cx="292608" cy="292608"/>
          </a:xfrm>
          <a:prstGeom prst="ellipse">
            <a:avLst/>
          </a:prstGeom>
          <a:solidFill>
            <a:srgbClr val="F4442E"/>
          </a:solidFill>
          <a:ln/>
        </p:spPr>
      </p:sp>
      <p:sp>
        <p:nvSpPr>
          <p:cNvPr id="24" name="Text 22"/>
          <p:cNvSpPr/>
          <p:nvPr/>
        </p:nvSpPr>
        <p:spPr>
          <a:xfrm>
            <a:off x="1051560" y="3648456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MUSKIZ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749040" y="3648456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Refinería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" y="5120640"/>
            <a:ext cx="10881360" cy="1280160"/>
          </a:xfrm>
          <a:prstGeom prst="roundRect">
            <a:avLst>
              <a:gd name="adj" fmla="val 7143"/>
            </a:avLst>
          </a:prstGeom>
          <a:solidFill>
            <a:srgbClr val="087E8B"/>
          </a:solidFill>
          <a:ln/>
        </p:spPr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440680"/>
            <a:ext cx="502920" cy="502920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1554480" y="5303520"/>
            <a:ext cx="96926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 geoespacial: marcadores Folium + mapas de calor (HeatMap) por contaminante, sobre coordenadas reales de cada estación.</a:t>
            </a:r>
            <a:endParaRPr lang="en-US" sz="1250" dirty="0"/>
          </a:p>
        </p:txBody>
      </p:sp>
      <p:pic>
        <p:nvPicPr>
          <p:cNvPr id="29" name="Gráfico 28">
            <a:extLst>
              <a:ext uri="{FF2B5EF4-FFF2-40B4-BE49-F238E27FC236}">
                <a16:creationId xmlns:a16="http://schemas.microsoft.com/office/drawing/2014/main" id="{21B0B1AF-CE48-1500-A1B0-914DACA67C7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Espacial GeoAI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notebooks — 35 features espaciales por estación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10a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Buffers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291840"/>
            <a:ext cx="2240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Densidad de carreteras y uso de suelo (OSM) a 500m/1km/2km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0" y="16916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57600" y="18745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10b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3657600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657600" y="3291840"/>
            <a:ext cx="2240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Haversine a puerto, Petronor, AP-8, costa y centro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16916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92240" y="18745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10c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492240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(DEM)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92240" y="3291840"/>
            <a:ext cx="2240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Elevación, pendiente y índice de relieve — Copernicus GLO-30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144000" y="1691640"/>
            <a:ext cx="2606040" cy="4023360"/>
          </a:xfrm>
          <a:prstGeom prst="roundRect">
            <a:avLst>
              <a:gd name="adj" fmla="val 350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326880" y="18745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326880" y="256032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 de Viento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326880" y="3291840"/>
            <a:ext cx="2240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Dirección de viento ERA5 × estación — patrones de dispersión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8978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087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principal: densidad de carreteras → NO₂, r = +0.83 (predictor espacial más fuerte de la red)</a:t>
            </a:r>
            <a:endParaRPr lang="en-US" sz="1150" dirty="0"/>
          </a:p>
        </p:txBody>
      </p:sp>
      <p:pic>
        <p:nvPicPr>
          <p:cNvPr id="21" name="Gráfico 20">
            <a:extLst>
              <a:ext uri="{FF2B5EF4-FFF2-40B4-BE49-F238E27FC236}">
                <a16:creationId xmlns:a16="http://schemas.microsoft.com/office/drawing/2014/main" id="{A8B811BE-86CC-D4C0-100D-97FA61354E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1828800"/>
            <a:ext cx="6400800" cy="6400800"/>
          </a:xfrm>
          <a:prstGeom prst="ellipse">
            <a:avLst/>
          </a:prstGeom>
          <a:solidFill>
            <a:srgbClr val="087E8B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Paradoja de MUSKIZ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Confirmada por tres métodos GIS independientes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4442E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14400" y="187452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34.6%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914400" y="2606040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CE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porcentaje de uso industrial del suelo en toda la red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FCE2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(Refinería Petronor)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035040" y="1691640"/>
            <a:ext cx="5486400" cy="1828800"/>
          </a:xfrm>
          <a:prstGeom prst="roundRect">
            <a:avLst>
              <a:gd name="adj" fmla="val 5000"/>
            </a:avLst>
          </a:prstGeom>
          <a:solidFill>
            <a:srgbClr val="3FA796"/>
          </a:solidFill>
          <a:ln/>
          <a:effectLst>
            <a:outerShdw blurRad="101600" dist="38100" dir="27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09360" y="187452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6.5 µg/m³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309360" y="26060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DF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embargo: el PM2.5 más bajo de toda la red </a:t>
            </a:r>
          </a:p>
          <a:p>
            <a:pPr marL="0" indent="0">
              <a:buNone/>
            </a:pPr>
            <a:r>
              <a:rPr lang="en-US" sz="1150" dirty="0">
                <a:solidFill>
                  <a:srgbClr val="DF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estación estructuralmente más limpia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749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qué?</a:t>
            </a:r>
            <a:endParaRPr lang="en-US" sz="1400" dirty="0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78808"/>
            <a:ext cx="256032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051560" y="416052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Posición costera — brisa marina del NW dispersa emisiones de Petronor</a:t>
            </a:r>
            <a:endParaRPr lang="en-US" sz="1250" dirty="0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681728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51560" y="466344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distancia al centro urbano de toda la red</a:t>
            </a:r>
            <a:endParaRPr lang="en-US" sz="1250" dirty="0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184648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51560" y="51663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relieve de terreno (TRI) alto — favorece mezcla turbulenta</a:t>
            </a:r>
            <a:endParaRPr lang="en-US" sz="1250" dirty="0"/>
          </a:p>
        </p:txBody>
      </p:sp>
      <p:pic>
        <p:nvPicPr>
          <p:cNvPr id="18" name="Gráfico 17">
            <a:extLst>
              <a:ext uri="{FF2B5EF4-FFF2-40B4-BE49-F238E27FC236}">
                <a16:creationId xmlns:a16="http://schemas.microsoft.com/office/drawing/2014/main" id="{DF2E5000-145D-564B-8A38-773F80EDB6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Predicción con Machine Learning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— predicción del día siguiente, validado en datos 2024–2026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692697"/>
              </p:ext>
            </p:extLst>
          </p:nvPr>
        </p:nvGraphicFramePr>
        <p:xfrm>
          <a:off x="640080" y="1554480"/>
          <a:ext cx="10881360" cy="237744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Contaminante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RMSE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Interpretación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NO₂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0.560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5.97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4.43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El mejor — ciclo semanal de tráfico regular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PM2.5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0.479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3.33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2.50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Persistencia + factores meteorológicos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PM10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0.460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6.26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4.45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Eventos de polvo añaden variabilidad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SO₂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0.390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1.87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1.23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12232E"/>
                          </a:solidFill>
                        </a:rPr>
                        <a:t>Más difícil — emisiones industriales/portuarias esporádicas</a:t>
                      </a:r>
                      <a:endParaRPr lang="en-US" sz="11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16052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metodológico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14400" y="466344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 estricto: entrenamiento &lt; 2023, validación 2023, test ≥ 2024 — un split aleatorio infló el R² a 0.84 por data leakage (detectado y corregido)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features por modelo: meteorología, lags, medias móviles — calculadas en tiempo real, sin necesidad de reentrenar</a:t>
            </a:r>
            <a:endParaRPr lang="en-US" sz="1100" dirty="0"/>
          </a:p>
        </p:txBody>
      </p:sp>
      <p:pic>
        <p:nvPicPr>
          <p:cNvPr id="4" name="Gráfico 3">
            <a:extLst>
              <a:ext uri="{FF2B5EF4-FFF2-40B4-BE49-F238E27FC236}">
                <a16:creationId xmlns:a16="http://schemas.microsoft.com/office/drawing/2014/main" id="{522DB7DE-4307-A563-7149-7B8B242051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Estándares, Tres Preguntas Distintas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EAQI/ICA · OMS 2021 · Directiva UE 2008/50/EC — cada uno responde algo diferente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02152" cy="4160520"/>
          </a:xfrm>
          <a:prstGeom prst="roundRect">
            <a:avLst>
              <a:gd name="adj" fmla="val 2611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3502152" cy="960120"/>
          </a:xfrm>
          <a:prstGeom prst="roundRect">
            <a:avLst>
              <a:gd name="adj" fmla="val 9524"/>
            </a:avLst>
          </a:prstGeom>
          <a:solidFill>
            <a:srgbClr val="087E8B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40280"/>
            <a:ext cx="3502152" cy="320040"/>
          </a:xfrm>
          <a:prstGeom prst="rect">
            <a:avLst/>
          </a:prstGeom>
          <a:solidFill>
            <a:srgbClr val="087E8B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01368"/>
            <a:ext cx="502920" cy="5029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764792"/>
            <a:ext cx="2404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EAQI / ICA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2633472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¿Es seguro salir hoy?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80288" y="3196982"/>
            <a:ext cx="30449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europeo de calidad del </a:t>
            </a:r>
            <a:r>
              <a:rPr lang="en-US" sz="140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aire</a:t>
            </a: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comunicación pública diaria. </a:t>
            </a:r>
          </a:p>
          <a:p>
            <a:pPr marL="0" indent="0">
              <a:buNone/>
            </a:pPr>
            <a:endParaRPr lang="en-US" sz="1400" dirty="0">
              <a:solidFill>
                <a:srgbClr val="5B718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Umbrales</a:t>
            </a: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calibrados para alertas de corto plazo (Bueno → Extremadamente malo).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89120" y="1600200"/>
            <a:ext cx="3502152" cy="4160520"/>
          </a:xfrm>
          <a:prstGeom prst="roundRect">
            <a:avLst>
              <a:gd name="adj" fmla="val 2611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89120" y="1600200"/>
            <a:ext cx="3502152" cy="960120"/>
          </a:xfrm>
          <a:prstGeom prst="roundRect">
            <a:avLst>
              <a:gd name="adj" fmla="val 9524"/>
            </a:avLst>
          </a:prstGeom>
          <a:solidFill>
            <a:srgbClr val="3FA796"/>
          </a:solidFill>
          <a:ln/>
        </p:spPr>
      </p:sp>
      <p:sp>
        <p:nvSpPr>
          <p:cNvPr id="13" name="Shape 10"/>
          <p:cNvSpPr/>
          <p:nvPr/>
        </p:nvSpPr>
        <p:spPr>
          <a:xfrm>
            <a:off x="4389120" y="2240280"/>
            <a:ext cx="3502152" cy="320040"/>
          </a:xfrm>
          <a:prstGeom prst="rect">
            <a:avLst/>
          </a:prstGeom>
          <a:solidFill>
            <a:srgbClr val="3FA796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80136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257800" y="1764792"/>
            <a:ext cx="2404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OMS (WHO)2021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4617720" y="274320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tan lejos estamos del objetivo ideal de salud?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617720" y="3273552"/>
            <a:ext cx="30449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Guías anuales </a:t>
            </a:r>
            <a:r>
              <a:rPr lang="en-US" sz="140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</a:t>
            </a: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estrictas</a:t>
            </a:r>
            <a:endParaRPr lang="en-US" sz="1400" dirty="0">
              <a:solidFill>
                <a:srgbClr val="5B718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(PM2.5=5, PM10=15, NO₂=10 µg/m³)</a:t>
            </a:r>
          </a:p>
          <a:p>
            <a:pPr marL="0" indent="0">
              <a:buNone/>
            </a:pPr>
            <a:endParaRPr lang="en-US" sz="1400" dirty="0">
              <a:solidFill>
                <a:srgbClr val="5B718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de ciudades europeas las superan rutinariamente.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8138160" y="1600200"/>
            <a:ext cx="3502152" cy="4160520"/>
          </a:xfrm>
          <a:prstGeom prst="roundRect">
            <a:avLst>
              <a:gd name="adj" fmla="val 2611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138160" y="1600200"/>
            <a:ext cx="3502152" cy="960120"/>
          </a:xfrm>
          <a:prstGeom prst="roundRect">
            <a:avLst>
              <a:gd name="adj" fmla="val 9524"/>
            </a:avLst>
          </a:prstGeom>
          <a:solidFill>
            <a:srgbClr val="F0A202"/>
          </a:solidFill>
          <a:ln/>
        </p:spPr>
      </p:sp>
      <p:sp>
        <p:nvSpPr>
          <p:cNvPr id="20" name="Shape 16"/>
          <p:cNvSpPr/>
          <p:nvPr/>
        </p:nvSpPr>
        <p:spPr>
          <a:xfrm>
            <a:off x="8138160" y="2240280"/>
            <a:ext cx="3502152" cy="320040"/>
          </a:xfrm>
          <a:prstGeom prst="rect">
            <a:avLst/>
          </a:prstGeom>
          <a:solidFill>
            <a:srgbClr val="F0A202"/>
          </a:solidFill>
          <a:ln/>
        </p:spPr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1801368"/>
            <a:ext cx="502920" cy="50292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006840" y="1764792"/>
            <a:ext cx="2404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Directiva UE 2008/50/EC</a:t>
            </a:r>
            <a:endParaRPr lang="en-US" sz="1500" dirty="0"/>
          </a:p>
        </p:txBody>
      </p:sp>
      <p:sp>
        <p:nvSpPr>
          <p:cNvPr id="23" name="Text 18"/>
          <p:cNvSpPr/>
          <p:nvPr/>
        </p:nvSpPr>
        <p:spPr>
          <a:xfrm>
            <a:off x="8366760" y="2679192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¿Se ha incumplido la ley?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8138160" y="3270134"/>
            <a:ext cx="3413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legalmente vinculantes en toda la UE</a:t>
            </a:r>
          </a:p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mucho más permisivos que la OMS</a:t>
            </a:r>
          </a:p>
          <a:p>
            <a:pPr marL="0" indent="0">
              <a:buNone/>
            </a:pPr>
            <a:endParaRPr lang="en-US" sz="1400" dirty="0">
              <a:solidFill>
                <a:srgbClr val="5B718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(PM2.5=25, NO₂=40 µg/m³). </a:t>
            </a:r>
          </a:p>
          <a:p>
            <a:pPr marL="0" indent="0">
              <a:buNone/>
            </a:pPr>
            <a:endParaRPr lang="en-US" sz="1400" dirty="0">
              <a:solidFill>
                <a:srgbClr val="5B7184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4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las alertas operativas.</a:t>
            </a:r>
            <a:endParaRPr lang="en-US" sz="1400" dirty="0"/>
          </a:p>
        </p:txBody>
      </p:sp>
      <p:pic>
        <p:nvPicPr>
          <p:cNvPr id="25" name="Gráfico 24">
            <a:extLst>
              <a:ext uri="{FF2B5EF4-FFF2-40B4-BE49-F238E27FC236}">
                <a16:creationId xmlns:a16="http://schemas.microsoft.com/office/drawing/2014/main" id="{3E1FB40B-0319-BC3C-141B-48896E713F8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Comparación Numérica — Mismo Contaminante, Tres Umbrales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con NO₂ — límite anual en µg/m³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9610785"/>
              </p:ext>
            </p:extLst>
          </p:nvPr>
        </p:nvGraphicFramePr>
        <p:xfrm>
          <a:off x="640080" y="1554480"/>
          <a:ext cx="10881360" cy="201168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Estándar</a:t>
                      </a:r>
                      <a:endParaRPr lang="en-US" sz="12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Umbral NO₂</a:t>
                      </a:r>
                      <a:endParaRPr lang="en-US" sz="12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Naturaleza</a:t>
                      </a:r>
                      <a:endParaRPr lang="en-US" sz="12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Uso en la plataforma</a:t>
                      </a:r>
                      <a:endParaRPr lang="en-US" sz="125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9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EAQI / ICA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7E8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2E"/>
                          </a:solidFill>
                        </a:rPr>
                        <a:t>≤40 (Bueno)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2E"/>
                          </a:solidFill>
                        </a:rPr>
                        <a:t>Comunicativo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2E"/>
                          </a:solidFill>
                        </a:rPr>
                        <a:t>Banners de alerta, tarjetas de estación, badges de zona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OMS 2021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A79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2E"/>
                          </a:solidFill>
                        </a:rPr>
                        <a:t>10 (límite anual)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2E"/>
                          </a:solidFill>
                        </a:rPr>
                        <a:t>Científico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2E"/>
                          </a:solidFill>
                        </a:rPr>
                        <a:t>Risk Score, líneas de referencia en gráficos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Directiva UE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A20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2E"/>
                          </a:solidFill>
                        </a:rPr>
                        <a:t>40 (límite anual)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2E"/>
                          </a:solidFill>
                        </a:rPr>
                        <a:t>Legal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2E"/>
                          </a:solidFill>
                        </a:rPr>
                        <a:t>Alertas de Daily Briefing, Decision Support, informes PDF</a:t>
                      </a:r>
                      <a:endParaRPr lang="en-US" sz="1200" dirty="0"/>
                    </a:p>
                  </a:txBody>
                  <a:tcPr anchor="ctr">
                    <a:lnL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794760"/>
            <a:ext cx="10881360" cy="1965960"/>
          </a:xfrm>
          <a:prstGeom prst="roundRect">
            <a:avLst>
              <a:gd name="adj" fmla="val 4651"/>
            </a:avLst>
          </a:prstGeom>
          <a:solidFill>
            <a:srgbClr val="0B3954"/>
          </a:solidFill>
          <a:ln/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069080"/>
            <a:ext cx="502920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0020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concreto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1600200" y="4434840"/>
            <a:ext cx="96926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PM2.5 = 12 µg/m³: </a:t>
            </a:r>
          </a:p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la OMS dice 2.4× el límite (preocupante a largo </a:t>
            </a:r>
            <a:r>
              <a:rPr lang="en-US" sz="1250" dirty="0" err="1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</a:t>
            </a: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),</a:t>
            </a:r>
          </a:p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la UE dice que está muy por debajo del límite legal (sin infracción), </a:t>
            </a:r>
          </a:p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</a:t>
            </a:r>
            <a:r>
              <a:rPr lang="en-US" sz="1250" dirty="0" err="1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EAQI dice “Fairly good” (aceptable para hoy).</a:t>
            </a:r>
          </a:p>
          <a:p>
            <a:pPr marL="0" indent="0">
              <a:buNone/>
            </a:pPr>
            <a:r>
              <a:rPr lang="en-US" sz="1250" dirty="0">
                <a:solidFill>
                  <a:srgbClr val="DCE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respuestas son correctas — responden preguntas distintas.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B39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Interactivo — 10 Páginas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Cloud — actualizado automáticamente cada día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3456432" cy="960120"/>
          </a:xfrm>
          <a:prstGeom prst="roundRect">
            <a:avLst>
              <a:gd name="adj" fmla="val 761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642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011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Diario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79392" y="1554480"/>
            <a:ext cx="3456432" cy="960120"/>
          </a:xfrm>
          <a:prstGeom prst="roundRect">
            <a:avLst>
              <a:gd name="adj" fmla="val 761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443984" y="16642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443984" y="2011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 de Calidad del Aire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18704" y="1554480"/>
            <a:ext cx="3456432" cy="960120"/>
          </a:xfrm>
          <a:prstGeom prst="roundRect">
            <a:avLst>
              <a:gd name="adj" fmla="val 761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83296" y="16642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083296" y="2011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Tendencias Temporales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97480"/>
            <a:ext cx="3456432" cy="960120"/>
          </a:xfrm>
          <a:prstGeom prst="roundRect">
            <a:avLst>
              <a:gd name="adj" fmla="val 761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4672" y="28072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04672" y="3154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Espacial GeoAI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279392" y="2697480"/>
            <a:ext cx="3456432" cy="960120"/>
          </a:xfrm>
          <a:prstGeom prst="roundRect">
            <a:avLst>
              <a:gd name="adj" fmla="val 761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443984" y="28072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443984" y="3154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Factores Meteorológicos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18704" y="2697480"/>
            <a:ext cx="3456432" cy="960120"/>
          </a:xfrm>
          <a:prstGeom prst="roundRect">
            <a:avLst>
              <a:gd name="adj" fmla="val 761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83296" y="28072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083296" y="3154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Pronóstico (Forecasting)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" y="3840480"/>
            <a:ext cx="3456432" cy="960120"/>
          </a:xfrm>
          <a:prstGeom prst="roundRect">
            <a:avLst>
              <a:gd name="adj" fmla="val 761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4672" y="39502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04672" y="4297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Soporte a Decisiones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279392" y="3840480"/>
            <a:ext cx="3456432" cy="960120"/>
          </a:xfrm>
          <a:prstGeom prst="roundRect">
            <a:avLst>
              <a:gd name="adj" fmla="val 761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443984" y="39502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43984" y="4297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918704" y="3840480"/>
            <a:ext cx="3456432" cy="960120"/>
          </a:xfrm>
          <a:prstGeom prst="roundRect">
            <a:avLst>
              <a:gd name="adj" fmla="val 761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8083296" y="39502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083296" y="4297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del Proyecto (IA)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4983480"/>
            <a:ext cx="3456432" cy="960120"/>
          </a:xfrm>
          <a:prstGeom prst="roundRect">
            <a:avLst>
              <a:gd name="adj" fmla="val 7619"/>
            </a:avLst>
          </a:prstGeom>
          <a:solidFill>
            <a:srgbClr val="EAF4F6"/>
          </a:solidFill>
          <a:ln/>
          <a:effectLst>
            <a:outerShdw blurRad="101600" dist="38100" dir="2700000" algn="bl" rotWithShape="0">
              <a:srgbClr val="000000">
                <a:alpha val="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04672" y="509320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87E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04672" y="5440680"/>
            <a:ext cx="3127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2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(admin)</a:t>
            </a:r>
            <a:endParaRPr lang="en-US" sz="1150" dirty="0"/>
          </a:p>
        </p:txBody>
      </p:sp>
      <p:pic>
        <p:nvPicPr>
          <p:cNvPr id="34" name="Gráfico 33">
            <a:extLst>
              <a:ext uri="{FF2B5EF4-FFF2-40B4-BE49-F238E27FC236}">
                <a16:creationId xmlns:a16="http://schemas.microsoft.com/office/drawing/2014/main" id="{E7EC78A4-E213-EFB4-920E-B6DD008881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087E8B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594360" cy="594360"/>
          </a:xfrm>
          <a:prstGeom prst="ellipse">
            <a:avLst/>
          </a:prstGeom>
          <a:solidFill>
            <a:srgbClr val="087E8B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1577340"/>
            <a:ext cx="274320" cy="274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37160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 datos manda sobre la cantidad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463040" y="173736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8D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de 10 a 7 estaciones y de 6 a 4 contaminantes garantizó series temporales completas — base indispensable para imputación MICE y modelos válidos.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40080" y="2926080"/>
            <a:ext cx="594360" cy="594360"/>
          </a:xfrm>
          <a:prstGeom prst="ellipse">
            <a:avLst/>
          </a:prstGeom>
          <a:solidFill>
            <a:srgbClr val="087E8B"/>
          </a:solidFill>
          <a:ln/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" y="308610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63040" y="288036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contexto espacial explica lo que el tiempo no puede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1463040" y="324612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8D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paradoja de MUSKIZ demuestra que factores estructurales (terreno, distancia, viento) son tan importantes como la serie temporal.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4434840"/>
            <a:ext cx="594360" cy="594360"/>
          </a:xfrm>
          <a:prstGeom prst="ellipse">
            <a:avLst/>
          </a:prstGeom>
          <a:solidFill>
            <a:srgbClr val="087E8B"/>
          </a:solidFill>
          <a:ln/>
        </p:spPr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100" y="4594860"/>
            <a:ext cx="274320" cy="2743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63040" y="4389120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estándar único cuenta toda la historia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1463040" y="475488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8D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EAQI, OMS y Directiva UE coexisten porque responden preguntas distintas — pública, científica y legal.</a:t>
            </a:r>
            <a:endParaRPr lang="en-US" sz="1150" dirty="0"/>
          </a:p>
        </p:txBody>
      </p:sp>
      <p:pic>
        <p:nvPicPr>
          <p:cNvPr id="16" name="Gráfico 15">
            <a:extLst>
              <a:ext uri="{FF2B5EF4-FFF2-40B4-BE49-F238E27FC236}">
                <a16:creationId xmlns:a16="http://schemas.microsoft.com/office/drawing/2014/main" id="{FA62BA0A-035B-35DC-31C6-99F6A7A86D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395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828800"/>
            <a:ext cx="6400800" cy="6400800"/>
          </a:xfrm>
          <a:prstGeom prst="ellipse">
            <a:avLst/>
          </a:prstGeom>
          <a:solidFill>
            <a:srgbClr val="087E8B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26880" y="-731520"/>
            <a:ext cx="4206240" cy="4206240"/>
          </a:xfrm>
          <a:prstGeom prst="ellipse">
            <a:avLst/>
          </a:prstGeom>
          <a:solidFill>
            <a:srgbClr val="3FA796">
              <a:alpha val="1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DB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ATENCIÓN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228600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¿Preguntas?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7DC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en vivo de la plataforma GeoAI a continuación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297680"/>
            <a:ext cx="7772400" cy="868680"/>
          </a:xfrm>
          <a:prstGeom prst="roundRect">
            <a:avLst>
              <a:gd name="adj" fmla="val 12632"/>
            </a:avLst>
          </a:prstGeom>
          <a:solidFill>
            <a:srgbClr val="087E8B"/>
          </a:solidFill>
          <a:ln/>
          <a:effectLst>
            <a:outerShdw blurRad="101600" dist="38100" dir="2700000" algn="bl" rotWithShape="0">
              <a:srgbClr val="000000">
                <a:alpha val="15000"/>
              </a:srgbClr>
            </a:outerShdw>
          </a:effectLst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4544568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417320" y="4370832"/>
            <a:ext cx="67665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 err="1">
                <a:solidFill>
                  <a:srgbClr val="954F72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geoai-dashboard.streamlit.app</a:t>
            </a:r>
            <a:r>
              <a:rPr lang="en-US" sz="1700" b="1" dirty="0">
                <a:solidFill>
                  <a:schemeClr val="bg1"/>
                </a:solidFill>
                <a:highlight>
                  <a:srgbClr val="00FF00"/>
                </a:highlight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endParaRPr lang="en-US" sz="1700" dirty="0">
              <a:solidFill>
                <a:schemeClr val="bg1"/>
              </a:solidFill>
              <a:highlight>
                <a:srgbClr val="00FF00"/>
              </a:highlight>
            </a:endParaRPr>
          </a:p>
        </p:txBody>
      </p:sp>
      <p:sp>
        <p:nvSpPr>
          <p:cNvPr id="10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7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Arman Ghaziaskari Naeini · GIS &amp; Spatial Data Scientist</a:t>
            </a:r>
          </a:p>
          <a:p>
            <a:pPr marL="0" indent="0">
              <a:buNone/>
            </a:pPr>
            <a:r>
              <a:rPr lang="en-US" sz="1200" dirty="0">
                <a:hlinkClick r:id="rId5"/>
              </a:rPr>
              <a:t>https://armanghazi.github.io/portfolio</a:t>
            </a:r>
            <a:r>
              <a:rPr lang="en-US" sz="1200" dirty="0"/>
              <a:t> 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09434A93-9882-0783-4966-35ACB3EAE42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67664" y="-17145"/>
            <a:ext cx="4224704" cy="93154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184</TotalTime>
  <Words>1569</Words>
  <Application>Microsoft Office PowerPoint</Application>
  <PresentationFormat>Widescreen</PresentationFormat>
  <Paragraphs>319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Cambria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GeoAI Smart City — Calidad del Aire en el Gran Bilbao</dc:title>
  <dc:subject>PptxGenJS Presentation</dc:subject>
  <dc:creator>Arman Ghaziaskari Naeini</dc:creator>
  <cp:lastModifiedBy>Arman naeini</cp:lastModifiedBy>
  <cp:revision>18</cp:revision>
  <dcterms:created xsi:type="dcterms:W3CDTF">2026-06-30T11:20:34Z</dcterms:created>
  <dcterms:modified xsi:type="dcterms:W3CDTF">2026-07-01T21:28:55Z</dcterms:modified>
</cp:coreProperties>
</file>